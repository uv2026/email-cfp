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3" r:id="rId6"/>
    <p:sldId id="278" r:id="rId7"/>
    <p:sldId id="279" r:id="rId8"/>
    <p:sldId id="264" r:id="rId9"/>
    <p:sldId id="260" r:id="rId10"/>
    <p:sldId id="261" r:id="rId11"/>
    <p:sldId id="266" r:id="rId12"/>
    <p:sldId id="268" r:id="rId13"/>
    <p:sldId id="269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43EB1-0ED2-C449-A965-A61D9F5623EA}" v="3" dt="2026-05-31T03:27:09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9"/>
    <p:restoredTop sz="94331"/>
  </p:normalViewPr>
  <p:slideViewPr>
    <p:cSldViewPr snapToGrid="0" showGuides="1">
      <p:cViewPr>
        <p:scale>
          <a:sx n="108" d="100"/>
          <a:sy n="108" d="100"/>
        </p:scale>
        <p:origin x="1472" y="10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7355095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7355095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bc9d36d4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bc9d36d4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73550952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73550952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873550952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873550952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spreadsheets/d/1K3FxztYeiUV586GphgkaYrkwvlfOr1N7-EE2jN5a1ww/edit?gid=1435284179#gid=143528417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365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GB" dirty="0">
                <a:solidFill>
                  <a:srgbClr val="980000"/>
                </a:solidFill>
              </a:rPr>
              <a:t>Instructions </a:t>
            </a:r>
            <a:r>
              <a:rPr lang="en-GB">
                <a:solidFill>
                  <a:srgbClr val="980000"/>
                </a:solidFill>
              </a:rPr>
              <a:t>for Assigning </a:t>
            </a:r>
            <a:r>
              <a:rPr lang="en-GB" dirty="0">
                <a:solidFill>
                  <a:srgbClr val="980000"/>
                </a:solidFill>
              </a:rPr>
              <a:t>Papers to Session Chairs</a:t>
            </a:r>
            <a:endParaRPr dirty="0"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88825" y="28891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dirty="0"/>
              <a:t>- Program Chair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80000"/>
                </a:solidFill>
              </a:rPr>
              <a:t>Outline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87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 dirty="0"/>
              <a:t>Account Login</a:t>
            </a:r>
            <a:r>
              <a:rPr lang="zh-CN" altLang="en-US" sz="2000" dirty="0"/>
              <a:t>             </a:t>
            </a:r>
            <a:r>
              <a:rPr lang="en-US" altLang="zh-CN" sz="2000" dirty="0"/>
              <a:t>                                            </a:t>
            </a:r>
            <a:r>
              <a:rPr lang="zh-CN" altLang="en-US" sz="2000" dirty="0"/>
              <a:t> </a:t>
            </a:r>
            <a:r>
              <a:rPr lang="en-US" altLang="zh-CN" sz="2000" dirty="0"/>
              <a:t>      </a:t>
            </a:r>
            <a:r>
              <a:rPr lang="en-US" altLang="zh-CN" sz="2000" dirty="0">
                <a:hlinkClick r:id="rId3" action="ppaction://hlinksldjump"/>
              </a:rPr>
              <a:t>[Slide 3]</a:t>
            </a:r>
            <a:r>
              <a:rPr lang="zh-CN" altLang="en-US" sz="1600" dirty="0"/>
              <a:t> </a:t>
            </a:r>
            <a:r>
              <a:rPr lang="en-US" altLang="zh-CN" sz="1600" dirty="0"/>
              <a:t>     </a:t>
            </a:r>
            <a:r>
              <a:rPr lang="zh-CN" altLang="en-US" sz="1600" dirty="0"/>
              <a:t> </a:t>
            </a:r>
            <a:r>
              <a:rPr lang="en-US" altLang="zh-CN" sz="1600" dirty="0"/>
              <a:t>                                                    </a:t>
            </a:r>
            <a:endParaRPr sz="1600" dirty="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 dirty="0"/>
              <a:t>Assign papers to </a:t>
            </a:r>
            <a:r>
              <a:rPr lang="en-US" altLang="en-GB" sz="2000" dirty="0"/>
              <a:t>session chairs.                                    </a:t>
            </a:r>
            <a:r>
              <a:rPr lang="en-US" altLang="en-GB" sz="2000" dirty="0">
                <a:hlinkClick r:id="rId4" action="ppaction://hlinksldjump"/>
              </a:rPr>
              <a:t>[Slide </a:t>
            </a:r>
            <a:r>
              <a:rPr lang="en-US" altLang="zh-CN" sz="2000" dirty="0">
                <a:hlinkClick r:id="rId4" action="ppaction://hlinksldjump"/>
              </a:rPr>
              <a:t>9</a:t>
            </a:r>
            <a:r>
              <a:rPr lang="en-US" altLang="en-GB" sz="2000" dirty="0">
                <a:hlinkClick r:id="rId4" action="ppaction://hlinksldjump"/>
              </a:rPr>
              <a:t>]</a:t>
            </a:r>
            <a:endParaRPr lang="en-US" altLang="en-GB" sz="2000" dirty="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 dirty="0"/>
              <a:t>Update Session Chair Names for Paper Assignment    </a:t>
            </a:r>
            <a:r>
              <a:rPr lang="en-US" sz="2000" dirty="0">
                <a:hlinkClick r:id="rId5" action="ppaction://hlinksldjump"/>
              </a:rPr>
              <a:t>[Slide </a:t>
            </a:r>
            <a:r>
              <a:rPr lang="en-US" altLang="zh-CN" sz="2000" dirty="0">
                <a:hlinkClick r:id="rId5" action="ppaction://hlinksldjump"/>
              </a:rPr>
              <a:t>11</a:t>
            </a:r>
            <a:r>
              <a:rPr lang="en-US" sz="2000" dirty="0">
                <a:hlinkClick r:id="rId5" action="ppaction://hlinksldjump"/>
              </a:rPr>
              <a:t>]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9898" y="445025"/>
            <a:ext cx="33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(A) </a:t>
            </a:r>
            <a:endParaRPr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29898" y="1157556"/>
            <a:ext cx="8574135" cy="3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Login Site	</a:t>
            </a:r>
            <a:endParaRPr sz="2130" dirty="0"/>
          </a:p>
          <a:p>
            <a:pPr marL="914400" lvl="1" indent="-3619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➢"/>
            </a:pPr>
            <a:r>
              <a:rPr lang="en-GB" sz="2100" u="sng" dirty="0">
                <a:solidFill>
                  <a:schemeClr val="hlink"/>
                </a:solidFill>
                <a:hlinkClick r:id="rId3"/>
              </a:rPr>
              <a:t>https://www.easychair.org/account/signin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Account: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➢"/>
            </a:pPr>
            <a:r>
              <a:rPr lang="en-GB" sz="2300" dirty="0">
                <a:solidFill>
                  <a:schemeClr val="dk1"/>
                </a:solidFill>
              </a:rPr>
              <a:t>UV Assistant</a:t>
            </a:r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dk1"/>
                </a:solidFill>
              </a:rPr>
              <a:t>Username: session1.assistant@universal-village.org	</a:t>
            </a:r>
            <a:endParaRPr sz="2300" dirty="0">
              <a:solidFill>
                <a:schemeClr val="dk1"/>
              </a:solidFill>
            </a:endParaRPr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dk1"/>
                </a:solidFill>
              </a:rPr>
              <a:t>Password: u…v…</a:t>
            </a:r>
          </a:p>
          <a:p>
            <a:pPr lvl="1" indent="-374650">
              <a:lnSpc>
                <a:spcPct val="95000"/>
              </a:lnSpc>
              <a:buSzPts val="2300"/>
              <a:buFont typeface="Arial" panose="020B0604020202020204"/>
              <a:buChar char="➢"/>
            </a:pPr>
            <a:r>
              <a:rPr lang="en-US" sz="2300" dirty="0">
                <a:hlinkClick r:id="rId4"/>
              </a:rPr>
              <a:t>Session Chair account list</a:t>
            </a:r>
            <a:endParaRPr lang="en-US" sz="2300" dirty="0"/>
          </a:p>
          <a:p>
            <a:pPr lvl="2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/>
              <a:t>Example</a:t>
            </a:r>
          </a:p>
          <a:p>
            <a:pPr lvl="3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dk1"/>
                </a:solidFill>
              </a:rPr>
              <a:t>Username: TS1-A@ieeeuv.onmicrosoft.com</a:t>
            </a:r>
          </a:p>
          <a:p>
            <a:pPr lvl="3" indent="-374650">
              <a:lnSpc>
                <a:spcPct val="95000"/>
              </a:lnSpc>
              <a:buSzPts val="23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dk1"/>
                </a:solidFill>
              </a:rPr>
              <a:t>Password: u…v…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6;p15"/>
          <p:cNvSpPr txBox="1"/>
          <p:nvPr/>
        </p:nvSpPr>
        <p:spPr>
          <a:xfrm>
            <a:off x="229898" y="445025"/>
            <a:ext cx="86770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indent="-381000">
              <a:lnSpc>
                <a:spcPct val="115000"/>
              </a:lnSpc>
              <a:buClr>
                <a:srgbClr val="980000"/>
              </a:buClr>
              <a:buSzPts val="2400"/>
              <a:buFont typeface="Arial" panose="020B0604020202020204"/>
              <a:buAutoNum type="arabicPeriod"/>
            </a:pPr>
            <a:r>
              <a:rPr lang="en-US" sz="2400" b="1" dirty="0">
                <a:solidFill>
                  <a:srgbClr val="980000"/>
                </a:solidFill>
              </a:rPr>
              <a:t>Account Login (B)</a:t>
            </a:r>
            <a:endParaRPr lang="en-US" sz="2400" b="1" dirty="0">
              <a:solidFill>
                <a:schemeClr val="accent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screenshot of a comput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323" y="836925"/>
            <a:ext cx="3846316" cy="37319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Google Shape;68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5635" y="1174995"/>
            <a:ext cx="4269787" cy="331501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97850" y="445025"/>
            <a:ext cx="33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(C) </a:t>
            </a:r>
            <a:endParaRPr sz="2400" b="1" dirty="0">
              <a:solidFill>
                <a:srgbClr val="980000"/>
              </a:solidFill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31191" y="950462"/>
            <a:ext cx="44969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Click the option “PC member”</a:t>
            </a:r>
            <a:endParaRPr sz="23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163600" y="1523162"/>
            <a:ext cx="5087084" cy="3237807"/>
            <a:chOff x="2228282" y="1718578"/>
            <a:chExt cx="5087084" cy="3237807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 rotWithShape="1">
            <a:blip r:embed="rId3"/>
            <a:srcRect b="16491"/>
            <a:stretch>
              <a:fillRect/>
            </a:stretch>
          </p:blipFill>
          <p:spPr>
            <a:xfrm>
              <a:off x="2228282" y="1718578"/>
              <a:ext cx="5087084" cy="3237807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5" name="Rectangle 14"/>
            <p:cNvSpPr/>
            <p:nvPr/>
          </p:nvSpPr>
          <p:spPr>
            <a:xfrm>
              <a:off x="3184264" y="4335332"/>
              <a:ext cx="645086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6236" y="3969572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56125" y="1199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(D)</a:t>
            </a:r>
            <a:r>
              <a:rPr lang="en-US" altLang="en-GB" sz="2400" b="1" dirty="0">
                <a:solidFill>
                  <a:srgbClr val="980000"/>
                </a:solidFill>
              </a:rPr>
              <a:t> </a:t>
            </a:r>
            <a:endParaRPr lang="en-US" altLang="en-US"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7AB93D-052F-1BBE-52ED-8E62A5EB1B0A}"/>
              </a:ext>
            </a:extLst>
          </p:cNvPr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66DC23-A4F1-F040-396A-A311956140BA}"/>
                </a:ext>
              </a:extLst>
            </p:cNvPr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>
              <a:extLst>
                <a:ext uri="{FF2B5EF4-FFF2-40B4-BE49-F238E27FC236}">
                  <a16:creationId xmlns:a16="http://schemas.microsoft.com/office/drawing/2014/main" id="{81A23FB1-43C6-E41C-6B2D-70E34C242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56125" y="1199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GB" sz="2400" b="1" dirty="0">
                <a:solidFill>
                  <a:srgbClr val="980000"/>
                </a:solidFill>
              </a:rPr>
              <a:t>Account login (E)</a:t>
            </a:r>
            <a:endParaRPr lang="en-US" altLang="en-US" sz="2400" b="1" dirty="0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5F295C-6102-6298-206F-28756DF691B3}"/>
              </a:ext>
            </a:extLst>
          </p:cNvPr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>
              <a:extLst>
                <a:ext uri="{FF2B5EF4-FFF2-40B4-BE49-F238E27FC236}">
                  <a16:creationId xmlns:a16="http://schemas.microsoft.com/office/drawing/2014/main" id="{39F080AF-0E52-E317-2F74-78703B414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>
              <a:extLst>
                <a:ext uri="{FF2B5EF4-FFF2-40B4-BE49-F238E27FC236}">
                  <a16:creationId xmlns:a16="http://schemas.microsoft.com/office/drawing/2014/main" id="{F492BFEE-F265-11FE-987C-CDBD3013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132208" y="232157"/>
            <a:ext cx="887958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300" dirty="0">
                <a:solidFill>
                  <a:schemeClr val="dk1"/>
                </a:solidFill>
              </a:rPr>
              <a:t>Click the option “Time” to check for the most recent submission</a:t>
            </a:r>
            <a:endParaRPr sz="23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49586" y="1312901"/>
            <a:ext cx="8362205" cy="3192191"/>
            <a:chOff x="649586" y="1312901"/>
            <a:chExt cx="8362205" cy="3192191"/>
          </a:xfrm>
        </p:grpSpPr>
        <p:grpSp>
          <p:nvGrpSpPr>
            <p:cNvPr id="8" name="Group 7"/>
            <p:cNvGrpSpPr/>
            <p:nvPr/>
          </p:nvGrpSpPr>
          <p:grpSpPr>
            <a:xfrm>
              <a:off x="649586" y="1312901"/>
              <a:ext cx="7844826" cy="3192191"/>
              <a:chOff x="649586" y="1312901"/>
              <a:chExt cx="7844826" cy="3192191"/>
            </a:xfrm>
          </p:grpSpPr>
          <p:pic>
            <p:nvPicPr>
              <p:cNvPr id="3" name="Picture 2" descr="A screenshot of a computer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586" y="1312901"/>
                <a:ext cx="7844826" cy="319219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</p:pic>
          <p:sp>
            <p:nvSpPr>
              <p:cNvPr id="4" name="Rectangle 3"/>
              <p:cNvSpPr/>
              <p:nvPr/>
            </p:nvSpPr>
            <p:spPr>
              <a:xfrm>
                <a:off x="7638383" y="3297923"/>
                <a:ext cx="382385" cy="2660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Graphic 9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97391" y="2973726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699" y="177740"/>
            <a:ext cx="41022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980000"/>
                </a:solidFill>
              </a:rPr>
              <a:t>2. Paper Assignment (A)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750625"/>
            <a:ext cx="4102255" cy="1545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After clicking “Assignment” and then “by PC Member”, you will be able to review current assignment of papers.</a:t>
            </a:r>
            <a:endParaRPr dirty="0"/>
          </a:p>
        </p:txBody>
      </p:sp>
      <p:pic>
        <p:nvPicPr>
          <p:cNvPr id="4" name="Picture 3" descr="A screenshot of a comput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491" y="287312"/>
            <a:ext cx="3573623" cy="45688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8" name="Group 17"/>
          <p:cNvGrpSpPr/>
          <p:nvPr/>
        </p:nvGrpSpPr>
        <p:grpSpPr>
          <a:xfrm>
            <a:off x="311699" y="2144054"/>
            <a:ext cx="4890467" cy="2712133"/>
            <a:chOff x="311699" y="2144054"/>
            <a:chExt cx="4890467" cy="2712133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699" y="2144054"/>
              <a:ext cx="4890467" cy="2712133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0" name="Rectangle 9"/>
            <p:cNvSpPr/>
            <p:nvPr/>
          </p:nvSpPr>
          <p:spPr>
            <a:xfrm>
              <a:off x="1862254" y="3111190"/>
              <a:ext cx="1839951" cy="2230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Arrow: Straight with solid fil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92530" y="2911182"/>
              <a:ext cx="667643" cy="667643"/>
            </a:xfrm>
            <a:prstGeom prst="rect">
              <a:avLst/>
            </a:prstGeom>
          </p:spPr>
        </p:pic>
        <p:pic>
          <p:nvPicPr>
            <p:cNvPr id="14" name="Graphic 13" descr="Arrow: Rotate right with solid fil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62254" y="2411494"/>
              <a:ext cx="424224" cy="424224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862254" y="2776654"/>
              <a:ext cx="579863" cy="2453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 descr="Arrow: Slight curve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648376" flipV="1">
            <a:off x="4512455" y="1341519"/>
            <a:ext cx="914400" cy="848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065065" y="175145"/>
            <a:ext cx="5668492" cy="2223809"/>
            <a:chOff x="1852566" y="137554"/>
            <a:chExt cx="5668492" cy="2223809"/>
          </a:xfrm>
        </p:grpSpPr>
        <p:pic>
          <p:nvPicPr>
            <p:cNvPr id="3" name="Picture 2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2566" y="137554"/>
              <a:ext cx="5668492" cy="221071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6209881" y="1567543"/>
              <a:ext cx="139648" cy="7938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61157" y="1002998"/>
              <a:ext cx="581891" cy="581891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4909602" y="2569983"/>
            <a:ext cx="3555058" cy="2321170"/>
            <a:chOff x="2794471" y="2508335"/>
            <a:chExt cx="3555058" cy="2321170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 rotWithShape="1">
            <a:blip r:embed="rId6"/>
            <a:srcRect t="18810" b="13247"/>
            <a:stretch>
              <a:fillRect/>
            </a:stretch>
          </p:blipFill>
          <p:spPr>
            <a:xfrm>
              <a:off x="2794471" y="2508335"/>
              <a:ext cx="3555058" cy="232117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9" name="Rectangle 8"/>
            <p:cNvSpPr/>
            <p:nvPr/>
          </p:nvSpPr>
          <p:spPr>
            <a:xfrm>
              <a:off x="2794471" y="4038600"/>
              <a:ext cx="1644179" cy="165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Arrow: Counter-clockwise curve with solid fill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08409" y="4087915"/>
              <a:ext cx="480960" cy="480960"/>
            </a:xfrm>
            <a:prstGeom prst="rect">
              <a:avLst/>
            </a:prstGeom>
          </p:spPr>
        </p:pic>
      </p:grpSp>
      <p:sp>
        <p:nvSpPr>
          <p:cNvPr id="14" name="Google Shape;80;p17"/>
          <p:cNvSpPr txBox="1"/>
          <p:nvPr/>
        </p:nvSpPr>
        <p:spPr>
          <a:xfrm>
            <a:off x="311700" y="2569983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b="1" dirty="0">
                <a:solidFill>
                  <a:srgbClr val="980000"/>
                </a:solidFill>
              </a:rPr>
              <a:t>2. Paper Assignment (B)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Google Shape;81;p17"/>
          <p:cNvSpPr txBox="1"/>
          <p:nvPr/>
        </p:nvSpPr>
        <p:spPr>
          <a:xfrm>
            <a:off x="311701" y="3250968"/>
            <a:ext cx="4463499" cy="154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Step 1: </a:t>
            </a:r>
            <a:r>
              <a:rPr lang="en-US" dirty="0"/>
              <a:t>Click the “Submissions” tab, Click the button</a:t>
            </a:r>
            <a:r>
              <a:rPr lang="zh-CN" altLang="en-US" dirty="0"/>
              <a:t>    </a:t>
            </a:r>
            <a:r>
              <a:rPr lang="en-US" dirty="0"/>
              <a:t> </a:t>
            </a:r>
            <a:r>
              <a:rPr lang="zh-CN" altLang="en-US" dirty="0"/>
              <a:t>          </a:t>
            </a:r>
            <a:r>
              <a:rPr lang="en-US" dirty="0"/>
              <a:t>in the “Assignment” column for the paper.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You will then be redirected to “Assignment View or Update for Submission” page.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Step 2: </a:t>
            </a:r>
            <a:r>
              <a:rPr lang="en-US" dirty="0"/>
              <a:t>To complete the assignment, check the box in the “Assigned” column for the corresponding PC member.</a:t>
            </a:r>
          </a:p>
        </p:txBody>
      </p:sp>
      <p:pic>
        <p:nvPicPr>
          <p:cNvPr id="21" name="Picture 20" descr="A black and white icon with a arrow&#10;&#10;Description automatically generat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9835" y="3143675"/>
            <a:ext cx="482600" cy="444500"/>
          </a:xfrm>
          <a:prstGeom prst="rect">
            <a:avLst/>
          </a:prstGeom>
        </p:spPr>
      </p:pic>
      <p:pic>
        <p:nvPicPr>
          <p:cNvPr id="25" name="Graphic 24" descr="Arrow: Rotate right with solid fill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578316">
            <a:off x="7986692" y="14765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Assignment(A)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94290" y="1017725"/>
            <a:ext cx="8916383" cy="3416400"/>
          </a:xfrm>
        </p:spPr>
        <p:txBody>
          <a:bodyPr/>
          <a:lstStyle/>
          <a:p>
            <a:pPr marL="914400" lvl="0" indent="0">
              <a:buNone/>
            </a:pPr>
            <a:r>
              <a:rPr lang="en-GB" dirty="0">
                <a:solidFill>
                  <a:schemeClr val="dk1"/>
                </a:solidFill>
              </a:rPr>
              <a:t>Click “</a:t>
            </a:r>
            <a:r>
              <a:rPr lang="en-GB" b="1" dirty="0">
                <a:solidFill>
                  <a:srgbClr val="1155CC"/>
                </a:solidFill>
              </a:rPr>
              <a:t>PC</a:t>
            </a:r>
            <a:r>
              <a:rPr lang="en-GB" dirty="0">
                <a:solidFill>
                  <a:schemeClr val="dk1"/>
                </a:solidFill>
              </a:rPr>
              <a:t>” -&gt; “</a:t>
            </a:r>
            <a:r>
              <a:rPr lang="en-GB" b="1" dirty="0">
                <a:solidFill>
                  <a:srgbClr val="1155CC"/>
                </a:solidFill>
              </a:rPr>
              <a:t>View PC</a:t>
            </a:r>
            <a:r>
              <a:rPr lang="en-GB" dirty="0">
                <a:solidFill>
                  <a:schemeClr val="dk1"/>
                </a:solidFill>
              </a:rPr>
              <a:t>”; Now, you will be able to </a:t>
            </a:r>
            <a:r>
              <a:rPr lang="en-GB" dirty="0">
                <a:solidFill>
                  <a:schemeClr val="tx1"/>
                </a:solidFill>
              </a:rPr>
              <a:t>see</a:t>
            </a:r>
            <a:r>
              <a:rPr lang="en-GB" dirty="0">
                <a:solidFill>
                  <a:schemeClr val="dk1"/>
                </a:solidFill>
              </a:rPr>
              <a:t> all the PC members.</a:t>
            </a:r>
            <a:endParaRPr lang="en-GB" sz="2500" dirty="0"/>
          </a:p>
        </p:txBody>
      </p:sp>
      <p:grpSp>
        <p:nvGrpSpPr>
          <p:cNvPr id="9" name="Group 8"/>
          <p:cNvGrpSpPr/>
          <p:nvPr/>
        </p:nvGrpSpPr>
        <p:grpSpPr>
          <a:xfrm>
            <a:off x="685800" y="1563092"/>
            <a:ext cx="7772400" cy="3364249"/>
            <a:chOff x="685800" y="1563092"/>
            <a:chExt cx="7772400" cy="3364249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63092"/>
              <a:ext cx="7772400" cy="3364249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2646947" y="2415941"/>
              <a:ext cx="904775" cy="1558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Straight with solid fill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92629" y="2107933"/>
              <a:ext cx="765208" cy="7652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99085"/>
            <a:ext cx="8520600" cy="3416400"/>
          </a:xfrm>
        </p:spPr>
        <p:txBody>
          <a:bodyPr/>
          <a:lstStyle/>
          <a:p>
            <a:r>
              <a:rPr lang="en-GB" dirty="0">
                <a:solidFill>
                  <a:schemeClr val="dk1"/>
                </a:solidFill>
              </a:rPr>
              <a:t>Click          under “Update” to </a:t>
            </a:r>
            <a:r>
              <a:rPr lang="en-US" dirty="0">
                <a:solidFill>
                  <a:schemeClr val="dk1"/>
                </a:solidFill>
              </a:rPr>
              <a:t>edit a PC member's information.</a:t>
            </a:r>
            <a:endParaRPr lang="en-US" dirty="0"/>
          </a:p>
        </p:txBody>
      </p:sp>
      <p:pic>
        <p:nvPicPr>
          <p:cNvPr id="6" name="Picture 5" descr="A screen shot of a phon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268" y="943152"/>
            <a:ext cx="444500" cy="4318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740118" y="1465635"/>
            <a:ext cx="5663763" cy="3277832"/>
            <a:chOff x="1241534" y="1728993"/>
            <a:chExt cx="5663763" cy="3277832"/>
          </a:xfrm>
        </p:grpSpPr>
        <p:pic>
          <p:nvPicPr>
            <p:cNvPr id="4" name="Picture 3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534" y="1728993"/>
              <a:ext cx="5663763" cy="3277832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5579706" y="4245429"/>
              <a:ext cx="121298" cy="1399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Arrow: Stra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01004" y="3873450"/>
              <a:ext cx="914400" cy="914400"/>
            </a:xfrm>
            <a:prstGeom prst="rect">
              <a:avLst/>
            </a:prstGeom>
          </p:spPr>
        </p:pic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Assignment(B)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81" y="1012174"/>
            <a:ext cx="8520600" cy="3416400"/>
          </a:xfrm>
        </p:spPr>
        <p:txBody>
          <a:bodyPr/>
          <a:lstStyle/>
          <a:p>
            <a:r>
              <a:rPr lang="en-US" dirty="0"/>
              <a:t>This name will appear in the "PC Member" column and will be used to identify the corresponding Session Chair during paper assignment.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018732" y="1941360"/>
            <a:ext cx="3155453" cy="2976705"/>
            <a:chOff x="578879" y="1212160"/>
            <a:chExt cx="3695665" cy="3486315"/>
          </a:xfrm>
        </p:grpSpPr>
        <p:pic>
          <p:nvPicPr>
            <p:cNvPr id="5" name="Picture 4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8879" y="1212160"/>
              <a:ext cx="3695665" cy="3486315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6" name="Rectangle 5"/>
            <p:cNvSpPr/>
            <p:nvPr/>
          </p:nvSpPr>
          <p:spPr>
            <a:xfrm>
              <a:off x="760164" y="2571750"/>
              <a:ext cx="1344058" cy="5019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193688" y="1836302"/>
            <a:ext cx="2508684" cy="3199482"/>
            <a:chOff x="5056745" y="1017725"/>
            <a:chExt cx="3155452" cy="4024345"/>
          </a:xfrm>
        </p:grpSpPr>
        <p:pic>
          <p:nvPicPr>
            <p:cNvPr id="9" name="Picture 8" descr="A screenshot of a comput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6745" y="1017725"/>
              <a:ext cx="3155452" cy="4024345"/>
            </a:xfrm>
            <a:prstGeom prst="rect">
              <a:avLst/>
            </a:prstGeom>
            <a:ln w="28575">
              <a:solidFill>
                <a:schemeClr val="bg2"/>
              </a:solidFill>
            </a:ln>
          </p:spPr>
        </p:pic>
        <p:sp>
          <p:nvSpPr>
            <p:cNvPr id="10" name="Rectangle 9"/>
            <p:cNvSpPr/>
            <p:nvPr/>
          </p:nvSpPr>
          <p:spPr>
            <a:xfrm>
              <a:off x="5188945" y="3514381"/>
              <a:ext cx="1079653" cy="1652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Graphic 11" descr="Arrow Right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6737" y="3429713"/>
            <a:ext cx="914400" cy="9144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447" y="304951"/>
            <a:ext cx="8997553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980000"/>
                </a:solidFill>
              </a:rPr>
              <a:t>3. Update Session Chair Names for Paper Assignment(C)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418</Words>
  <Application>Microsoft Macintosh PowerPoint</Application>
  <PresentationFormat>On-screen Show (16:9)</PresentationFormat>
  <Paragraphs>44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Instructions for Assigning Papers to Session Chairs</vt:lpstr>
      <vt:lpstr>Outline</vt:lpstr>
      <vt:lpstr>Account Login (A) </vt:lpstr>
      <vt:lpstr>PowerPoint Presentation</vt:lpstr>
      <vt:lpstr>Account Login (C) </vt:lpstr>
      <vt:lpstr>Account login (D) </vt:lpstr>
      <vt:lpstr>Account login (E)</vt:lpstr>
      <vt:lpstr>PowerPoint Presentation</vt:lpstr>
      <vt:lpstr>2. Paper Assignment (A)</vt:lpstr>
      <vt:lpstr>PowerPoint Presentation</vt:lpstr>
      <vt:lpstr>3. Update Session Chair Names for Paper Assignment(A) </vt:lpstr>
      <vt:lpstr>3. Update Session Chair Names for Paper Assignment(B) </vt:lpstr>
      <vt:lpstr>3. Update Session Chair Names for Paper Assignment(C)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EasyChair Instructions for Program Chair</dc:title>
  <dc:creator/>
  <cp:lastModifiedBy>b139</cp:lastModifiedBy>
  <cp:revision>17</cp:revision>
  <dcterms:created xsi:type="dcterms:W3CDTF">2026-05-29T21:10:00Z</dcterms:created>
  <dcterms:modified xsi:type="dcterms:W3CDTF">2026-06-06T23:40:09Z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345D837061D14268BBE0EC7032453549_13</vt:lpwstr>
  </property>
  <property fmtid="{D5CDD505-2E9C-101B-9397-08002B2CF9AE}" pid="3" name="KSOProductBuildVer">
    <vt:lpwstr>1033-12.1.0.26880</vt:lpwstr>
  </property>
</Properties>
</file>