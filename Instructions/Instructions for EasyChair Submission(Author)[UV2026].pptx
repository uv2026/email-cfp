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85" r:id="rId4"/>
    <p:sldId id="286" r:id="rId5"/>
    <p:sldId id="287" r:id="rId6"/>
    <p:sldId id="288" r:id="rId7"/>
    <p:sldId id="289" r:id="rId8"/>
    <p:sldId id="290" r:id="rId9"/>
    <p:sldId id="298" r:id="rId10"/>
    <p:sldId id="299" r:id="rId11"/>
    <p:sldId id="265" r:id="rId12"/>
    <p:sldId id="266" r:id="rId13"/>
    <p:sldId id="267" r:id="rId14"/>
    <p:sldId id="279" r:id="rId15"/>
    <p:sldId id="268" r:id="rId16"/>
    <p:sldId id="280" r:id="rId17"/>
    <p:sldId id="269" r:id="rId18"/>
    <p:sldId id="270" r:id="rId19"/>
    <p:sldId id="271" r:id="rId20"/>
    <p:sldId id="272" r:id="rId21"/>
    <p:sldId id="273" r:id="rId22"/>
    <p:sldId id="274" r:id="rId23"/>
    <p:sldId id="278" r:id="rId24"/>
    <p:sldId id="275" r:id="rId25"/>
    <p:sldId id="276" r:id="rId26"/>
    <p:sldId id="281" r:id="rId27"/>
    <p:sldId id="277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6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00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98850F-DDA1-9E4D-944C-37DC4288EB9F}" v="13" dt="2026-06-06T03:21:26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84"/>
  </p:normalViewPr>
  <p:slideViewPr>
    <p:cSldViewPr snapToGrid="0" showGuides="1">
      <p:cViewPr varScale="1">
        <p:scale>
          <a:sx n="163" d="100"/>
          <a:sy n="163" d="100"/>
        </p:scale>
        <p:origin x="400" y="176"/>
      </p:cViewPr>
      <p:guideLst>
        <p:guide orient="horz" pos="176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1d080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a1d080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3a1d08044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3a1d08044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3a1d08044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3a1d08044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3a1d08044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3a1d08044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a1d08044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3a1d08044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a1d08044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a1d08044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491ee736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4491ee736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4491ee736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4491ee736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491ee736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4491ee736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491ee736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4491ee736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a015b2318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a015b2318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a015b2318_6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7a015b2318_6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a015b2318_6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7a015b2318_6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7a015b2318_6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7a015b2318_6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75e0b7ab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75e0b7ab9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75e0b7ab9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75e0b7ab9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75e0b7ab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f75e0b7ab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75e0b7ab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75e0b7ab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1d080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a1d080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7f790df7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7f790df7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1f30adde6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11f30adde6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1d080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a1d080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uv2026.conf@universal-village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3" Type="http://schemas.openxmlformats.org/officeDocument/2006/relationships/slide" Target="slide1.xml"/><Relationship Id="rId7" Type="http://schemas.openxmlformats.org/officeDocument/2006/relationships/slide" Target="slide2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9.xml"/><Relationship Id="rId11" Type="http://schemas.openxmlformats.org/officeDocument/2006/relationships/slide" Target="slide27.xml"/><Relationship Id="rId5" Type="http://schemas.openxmlformats.org/officeDocument/2006/relationships/slide" Target="slide15.xml"/><Relationship Id="rId10" Type="http://schemas.openxmlformats.org/officeDocument/2006/relationships/slide" Target="slide26.xml"/><Relationship Id="rId4" Type="http://schemas.openxmlformats.org/officeDocument/2006/relationships/slide" Target="slide11.xml"/><Relationship Id="rId9" Type="http://schemas.openxmlformats.org/officeDocument/2006/relationships/slide" Target="slide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sychair.org/account/signi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hyperlink" Target="https://easychair.org/my2/conference?conf=ieeeuv2026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4sOtRU2KhsCSTBiIJZ2LAXMBtu4fAosj/edi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QnzxN1ThMlvL_A9SyiQ_TOT4-vhXnC36/edit?usp=sharing&amp;ouid=109822557424734033356&amp;rtpof=true&amp;sd=tru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tandards.ieee.org/content/dam/ieee-standards/standards/web/documents/other/embeddedfonts.pdf%0d" TargetMode="External"/><Relationship Id="rId4" Type="http://schemas.openxmlformats.org/officeDocument/2006/relationships/hyperlink" Target="https://standards.ieee.org/content/dam/ieee-standards/standards/web/documents/other/embeddedfonts.pdf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mailto:uv2026.conf@universal-village.org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dirty="0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Instructions for IEEE UV2026 </a:t>
            </a:r>
            <a:br>
              <a:rPr lang="en-GB" sz="4000" b="1" dirty="0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</a:br>
            <a:r>
              <a:rPr lang="en-GB" sz="4000" b="1" dirty="0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Paper and Presentation Submission on </a:t>
            </a:r>
            <a:r>
              <a:rPr lang="en-GB" sz="4000" b="1" dirty="0" err="1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EasyChair</a:t>
            </a:r>
            <a:endParaRPr sz="4000" b="1" dirty="0">
              <a:solidFill>
                <a:srgbClr val="980000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85" y="3113405"/>
            <a:ext cx="8520430" cy="1650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Contact: </a:t>
            </a:r>
            <a:r>
              <a:rPr lang="en-GB" dirty="0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hlinkClick r:id="rId3"/>
              </a:rPr>
              <a:t>uv2026.conf@universal-village.org</a:t>
            </a:r>
            <a:endParaRPr lang="en-GB" dirty="0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</a:t>
            </a:r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48393946-C846-DBF2-C623-B2B8181CB7B9}"/>
              </a:ext>
            </a:extLst>
          </p:cNvPr>
          <p:cNvSpPr txBox="1">
            <a:spLocks/>
          </p:cNvSpPr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indent="-406400">
              <a:buFont typeface="Arial" panose="020B0604020202020204"/>
              <a:buChar char="-"/>
            </a:pPr>
            <a:r>
              <a:rPr lang="en-GB" dirty="0"/>
              <a:t>Authors &amp; Presenters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Outline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Create </a:t>
            </a: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 Account		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3" action="ppaction://hlinksldjump"/>
              </a:rPr>
              <a:t>【Slide 3】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Submit a New Paper			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4" action="ppaction://hlinksldjump"/>
              </a:rPr>
              <a:t>【Slide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4" action="ppaction://hlinksldjump"/>
              </a:rPr>
              <a:t> 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4" action="ppaction://hlinksldjump"/>
              </a:rPr>
              <a:t>11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4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Update an Existing Submission		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5" action="ppaction://hlinksldjump"/>
              </a:rPr>
              <a:t>【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5" action="ppaction://hlinksldjump"/>
              </a:rPr>
              <a:t>Slide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5" action="ppaction://hlinksldjump"/>
              </a:rPr>
              <a:t> 15】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Check Review Results		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6" action="ppaction://hlinksldjump"/>
              </a:rPr>
              <a:t>【Slide 1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6" action="ppaction://hlinksldjump"/>
              </a:rPr>
              <a:t>9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6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[</a:t>
            </a:r>
            <a:r>
              <a:rPr lang="en-US" altLang="zh-CN" sz="2000" b="1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Important</a:t>
            </a: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Paper Submission Requirements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7" action="ppaction://hlinksldjump"/>
              </a:rPr>
              <a:t>【Slide 2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7" action="ppaction://hlinksldjump"/>
              </a:rPr>
              <a:t>3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7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[</a:t>
            </a:r>
            <a:r>
              <a:rPr lang="en-US" altLang="zh-CN" sz="2000" b="1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Important</a:t>
            </a: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Paper Template		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8" action="ppaction://hlinksldjump"/>
              </a:rPr>
              <a:t>【Slide 2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8" action="ppaction://hlinksldjump"/>
              </a:rPr>
              <a:t>4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8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[</a:t>
            </a:r>
            <a:r>
              <a:rPr lang="en-US" altLang="zh-CN" sz="2000" b="1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Important</a:t>
            </a: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]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Formatting Requirements &amp; Checklist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9" action="ppaction://hlinksldjump"/>
              </a:rPr>
              <a:t>【Slide 2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9" action="ppaction://hlinksldjump"/>
              </a:rPr>
              <a:t>5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9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[</a:t>
            </a:r>
            <a:r>
              <a:rPr lang="en-US" altLang="zh-CN" sz="2000" b="1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Important</a:t>
            </a: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]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Forum &amp; Competition Submissions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0" action="ppaction://hlinksldjump"/>
              </a:rPr>
              <a:t>【Slide 2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0" action="ppaction://hlinksldjump"/>
              </a:rPr>
              <a:t>6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0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Contact Information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</a:rPr>
              <a:t>Account </a:t>
            </a:r>
            <a:r>
              <a:rPr lang="en-GB" sz="2000" dirty="0" err="1">
                <a:latin typeface="Times New Roman" panose="02020603050405020304" charset="0"/>
                <a:cs typeface="Times New Roman" panose="02020603050405020304" charset="0"/>
              </a:rPr>
              <a:t>Creatio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n		             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1" action="ppaction://hlinksldjump"/>
              </a:rPr>
              <a:t>【Slide 2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1" action="ppaction://hlinksldjump"/>
              </a:rPr>
              <a:t>7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1" action="ppaction://hlinksldjump"/>
              </a:rPr>
              <a:t>】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				</a:t>
            </a:r>
            <a:endParaRPr lang="en-GB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762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1. 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 Account-1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92075" y="1017905"/>
            <a:ext cx="8924925" cy="32785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325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Go to the EasyChair login page: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marL="1346200" lvl="2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r>
              <a:rPr lang="en-US" altLang="zh-CN" sz="1600" dirty="0" err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https://easychair.org/conferences/?conf=ieeeuv2026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）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60325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b)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Create account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” to start the registration process.</a:t>
            </a:r>
            <a:endParaRPr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140" y="2299335"/>
            <a:ext cx="3439160" cy="2633345"/>
          </a:xfrm>
          <a:prstGeom prst="rect">
            <a:avLst/>
          </a:prstGeom>
          <a:ln w="28575" cmpd="sng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739000" y="1128500"/>
            <a:ext cx="80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Complete the </a:t>
            </a:r>
            <a:r>
              <a:rPr lang="en-US" altLang="zh-CN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human verification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(reCAPTCHA) as required.</a:t>
            </a:r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262089" y="1767950"/>
            <a:ext cx="4619823" cy="27209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/>
          <p:nvPr/>
        </p:nvSpPr>
        <p:spPr>
          <a:xfrm>
            <a:off x="438700" y="572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Create an </a:t>
            </a:r>
            <a:r>
              <a:rPr lang="en-US" altLang="zh-CN" b="1" dirty="0" err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 Account-2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840600" y="1116125"/>
            <a:ext cx="7991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d)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Fill in your personal information in the registration form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524002" y="1716635"/>
            <a:ext cx="4624899" cy="29079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 Account-3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0" y="1089660"/>
            <a:ext cx="4535170" cy="405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 lnSpcReduction="20000"/>
          </a:bodyPr>
          <a:lstStyle/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en-GB" sz="18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e) After submitting the form, a confirmation message will be displayed, indicating that a verification email has been sent to your registered email address.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f)  Check your email inbox for a verification message from EasyChair.</a:t>
            </a: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8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g)  Enter the verification code provided in the email.</a:t>
            </a: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8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en-GB" sz="18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h)  </a:t>
            </a:r>
            <a:r>
              <a:rPr lang="en-US" altLang="zh-CN" sz="18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Click “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Create account</a:t>
            </a:r>
            <a:r>
              <a:rPr lang="en-US" altLang="zh-CN" sz="18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” to finalize your registration.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98035" y="3375660"/>
            <a:ext cx="4390390" cy="169100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 Account-4</a:t>
            </a: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98035" y="1089660"/>
            <a:ext cx="4389755" cy="211963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418375"/>
            <a:ext cx="2882700" cy="34164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en-GB" sz="1600" dirty="0" err="1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i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) Click the </a:t>
            </a:r>
            <a:r>
              <a:rPr lang="en-US" altLang="en-GB" sz="1600" b="1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“Click here to log in” 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link to access the </a:t>
            </a:r>
            <a:r>
              <a:rPr lang="en-US" altLang="en-GB" sz="1600" dirty="0" err="1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EasyChair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login page.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693850" y="1640550"/>
            <a:ext cx="5031050" cy="2400124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Account-5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0977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j)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You can now log in to EasyChair using your registered email address (or username) and password.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https://easychair.org/conferences/?conf=ieeeuv2026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600" u="sng" dirty="0">
              <a:solidFill>
                <a:schemeClr val="dk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335530" y="2476500"/>
            <a:ext cx="4472940" cy="242062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 Account-6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4"/>
            <a:ext cx="8520600" cy="4048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dirty="0">
                <a:solidFill>
                  <a:srgbClr val="00B050"/>
                </a:solidFill>
              </a:rPr>
              <a:t>Please make sure that you are logged in to </a:t>
            </a:r>
            <a:r>
              <a:rPr lang="en-US" sz="1800" dirty="0" err="1">
                <a:solidFill>
                  <a:srgbClr val="00B050"/>
                </a:solidFill>
              </a:rPr>
              <a:t>EasyChair</a:t>
            </a:r>
            <a:r>
              <a:rPr lang="en-US" sz="1800" dirty="0">
                <a:solidFill>
                  <a:srgbClr val="00B050"/>
                </a:solidFill>
              </a:rPr>
              <a:t> before accessing the IEEE UV2026 conference page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  <a:r>
              <a:rPr lang="en-US" sz="1300" i="1" dirty="0">
                <a:solidFill>
                  <a:srgbClr val="00B050"/>
                </a:solidFill>
              </a:rPr>
              <a:t>(</a:t>
            </a:r>
            <a:r>
              <a:rPr lang="en-US" sz="1300" i="1" dirty="0">
                <a:solidFill>
                  <a:srgbClr val="00B050"/>
                </a:solidFill>
                <a:hlinkClick r:id="rId3"/>
              </a:rPr>
              <a:t>https://easychair.org/conferences/?conf=ieeeUV2026</a:t>
            </a:r>
            <a:r>
              <a:rPr lang="en-US" sz="1300" i="1" dirty="0">
                <a:solidFill>
                  <a:srgbClr val="00B050"/>
                </a:solidFill>
              </a:rPr>
              <a:t>)</a:t>
            </a:r>
            <a:r>
              <a:rPr lang="en-US" sz="2100" dirty="0">
                <a:solidFill>
                  <a:srgbClr val="00B050"/>
                </a:solidFill>
              </a:rPr>
              <a:t>.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</a:p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i="1" dirty="0">
                <a:solidFill>
                  <a:srgbClr val="00B050"/>
                </a:solidFill>
              </a:rPr>
              <a:t>Otherwise, you may encounter the following error message.</a:t>
            </a:r>
            <a:endParaRPr lang="en-US" sz="2000" i="1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r>
              <a:rPr lang="en-US" sz="2000" dirty="0">
                <a:solidFill>
                  <a:schemeClr val="dk1"/>
                </a:solidFill>
              </a:rPr>
              <a:t>Please click the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“</a:t>
            </a:r>
            <a:r>
              <a:rPr lang="en-US" sz="2000" b="1" dirty="0">
                <a:solidFill>
                  <a:srgbClr val="1155CC"/>
                </a:solidFill>
                <a:sym typeface="+mn-ea"/>
              </a:rPr>
              <a:t>Log in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”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on the top right corner AND enter your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account and password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to log in. 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9" name="Group 8"/>
          <p:cNvGrpSpPr/>
          <p:nvPr/>
        </p:nvGrpSpPr>
        <p:grpSpPr>
          <a:xfrm>
            <a:off x="156124" y="1412933"/>
            <a:ext cx="8977800" cy="1633855"/>
            <a:chOff x="156124" y="1526222"/>
            <a:chExt cx="8977800" cy="163385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24" y="1983422"/>
              <a:ext cx="8830945" cy="117665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2" name="Rectangle 1"/>
            <p:cNvSpPr/>
            <p:nvPr/>
          </p:nvSpPr>
          <p:spPr>
            <a:xfrm>
              <a:off x="250854" y="2774909"/>
              <a:ext cx="995320" cy="3641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Arrow: Rotate right with solid fill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19524" y="1526222"/>
              <a:ext cx="914400" cy="914400"/>
            </a:xfrm>
            <a:prstGeom prst="rect">
              <a:avLst/>
            </a:prstGeom>
          </p:spPr>
        </p:pic>
      </p:grpSp>
      <p:sp>
        <p:nvSpPr>
          <p:cNvPr id="66" name="Google Shape;66;p15"/>
          <p:cNvSpPr txBox="1">
            <a:spLocks noGrp="1"/>
          </p:cNvSpPr>
          <p:nvPr/>
        </p:nvSpPr>
        <p:spPr>
          <a:xfrm>
            <a:off x="250740" y="6212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5"/>
            <a:ext cx="8520600" cy="3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b) After logging in, click on “Conferences” and then “IEEE UV2026” to access UV2026 Publication System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7" name="Group 6"/>
          <p:cNvGrpSpPr/>
          <p:nvPr/>
        </p:nvGrpSpPr>
        <p:grpSpPr>
          <a:xfrm>
            <a:off x="241299" y="1348277"/>
            <a:ext cx="8660766" cy="3437338"/>
            <a:chOff x="241299" y="1348277"/>
            <a:chExt cx="8660766" cy="343733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300" y="1705610"/>
              <a:ext cx="8660765" cy="256159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3" name="Graphic 2" descr="Arrow: Rotate right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241299" y="1348277"/>
              <a:ext cx="751160" cy="714665"/>
            </a:xfrm>
            <a:prstGeom prst="rect">
              <a:avLst/>
            </a:prstGeom>
          </p:spPr>
        </p:pic>
        <p:pic>
          <p:nvPicPr>
            <p:cNvPr id="6" name="Graphic 5" descr="Arrow: Clockwise curve with solid fill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0761" y="4193379"/>
              <a:ext cx="592236" cy="592236"/>
            </a:xfrm>
            <a:prstGeom prst="rect">
              <a:avLst/>
            </a:prstGeom>
          </p:spPr>
        </p:pic>
      </p:grpSp>
      <p:sp>
        <p:nvSpPr>
          <p:cNvPr id="4" name="Google Shape;66;p15"/>
          <p:cNvSpPr txBox="1">
            <a:spLocks noGrp="1"/>
          </p:cNvSpPr>
          <p:nvPr/>
        </p:nvSpPr>
        <p:spPr>
          <a:xfrm>
            <a:off x="250740" y="6212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Submit a New Paper-1</a:t>
            </a:r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192405" y="1104900"/>
            <a:ext cx="4111625" cy="3982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685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Log in to EasyChair:</a:t>
            </a:r>
          </a:p>
          <a:p>
            <a:pPr marL="742950" lvl="2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1600" dirty="0" err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EasyChair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3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(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4" action="ppaction://hlinkfile"/>
              </a:rPr>
              <a:t>https://easychair.org/my2/conference?conf=ieeeuv2026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68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GB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68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GB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4668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b)  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Make a new submission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”.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r="29132" b="45514"/>
          <a:stretch>
            <a:fillRect/>
          </a:stretch>
        </p:blipFill>
        <p:spPr>
          <a:xfrm>
            <a:off x="4375150" y="2585085"/>
            <a:ext cx="4191635" cy="21463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8565" y="187960"/>
            <a:ext cx="2762885" cy="2115820"/>
          </a:xfrm>
          <a:prstGeom prst="rect">
            <a:avLst/>
          </a:prstGeom>
          <a:ln w="28575" cmpd="sng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192405" y="1186180"/>
            <a:ext cx="8826500" cy="3802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Complete all required fields: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  - Corresponding author information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  - Author details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  - Title and abstract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  - Keywords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  - File upload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d)  Upload your manuscript as a PDF file.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400" b="1" dirty="0">
                <a:solidFill>
                  <a:schemeClr val="dk1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[Important] </a:t>
            </a:r>
            <a:r>
              <a:rPr lang="en-US" altLang="zh-CN" sz="1400" b="1" dirty="0">
                <a:solidFill>
                  <a:schemeClr val="dk1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All submissions MUST comply with the formatting and template requirements (See Sections 5–8).</a:t>
            </a:r>
          </a:p>
        </p:txBody>
      </p:sp>
      <p:sp>
        <p:nvSpPr>
          <p:cNvPr id="115" name="Google Shape;115;p22"/>
          <p:cNvSpPr txBox="1"/>
          <p:nvPr/>
        </p:nvSpPr>
        <p:spPr>
          <a:xfrm>
            <a:off x="466640" y="5072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70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zh-CN" sz="270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Submit a New Paper-2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2718" r="43495" b="27645"/>
          <a:stretch>
            <a:fillRect/>
          </a:stretch>
        </p:blipFill>
        <p:spPr>
          <a:xfrm>
            <a:off x="3913505" y="1269365"/>
            <a:ext cx="4870450" cy="30670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111760" y="1186180"/>
            <a:ext cx="9032240" cy="2838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e)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Submit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” to finalize your submission.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400" b="1" dirty="0">
              <a:solidFill>
                <a:schemeClr val="dk1"/>
              </a:solidFill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400" b="1" dirty="0">
              <a:solidFill>
                <a:schemeClr val="dk1"/>
              </a:solidFill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400" b="1" dirty="0">
                <a:solidFill>
                  <a:schemeClr val="dk1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[Important] </a:t>
            </a:r>
            <a:r>
              <a:rPr lang="en-US" altLang="zh-CN" sz="1400" dirty="0">
                <a:solidFill>
                  <a:schemeClr val="dk1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Do not create multiple submissions for the same work. Use the update function for revisions (See Section 3).</a:t>
            </a: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lum bright="6000"/>
          </a:blip>
          <a:stretch>
            <a:fillRect/>
          </a:stretch>
        </p:blipFill>
        <p:spPr>
          <a:xfrm>
            <a:off x="472150" y="2344833"/>
            <a:ext cx="8267700" cy="132397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Submit a New Paper-3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192405" y="1003294"/>
            <a:ext cx="8639175" cy="2838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f)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Upon successful submission, the system will display your submission ID and details.</a:t>
            </a:r>
          </a:p>
        </p:txBody>
      </p:sp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Submit a New Paper-4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r="41076" b="25980"/>
          <a:stretch>
            <a:fillRect/>
          </a:stretch>
        </p:blipFill>
        <p:spPr>
          <a:xfrm>
            <a:off x="1544320" y="1796415"/>
            <a:ext cx="6055360" cy="31851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000"/>
              <a:buFont typeface="Arial" panose="020B0604020202020204"/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3.  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Update an Existing Submission-1</a:t>
            </a:r>
            <a:endParaRPr sz="31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lang="en-US" altLang="en-GB" sz="1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a) 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Log in to </a:t>
            </a:r>
            <a:r>
              <a:rPr lang="en-US" altLang="zh-CN" sz="1600" b="1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 marL="8826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charset="0"/>
              <a:buChar char="n"/>
            </a:pPr>
            <a:r>
              <a:rPr lang="en-US" altLang="zh-CN" sz="1600" dirty="0" err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EasyChair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https://easychair.org/conferences/?conf=ieeeuv2026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）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600" b="1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665" y="2193925"/>
            <a:ext cx="3439160" cy="2633345"/>
          </a:xfrm>
          <a:prstGeom prst="rect">
            <a:avLst/>
          </a:prstGeom>
          <a:ln w="28575" cmpd="sng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128375" y="1520700"/>
            <a:ext cx="4820700" cy="35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b)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Select “</a:t>
            </a:r>
            <a:r>
              <a:rPr lang="en-US" altLang="zh-CN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Author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” to access your submission dashboard.</a:t>
            </a:r>
          </a:p>
          <a:p>
            <a:pPr marL="1397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-US" altLang="zh-CN"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397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Locate your submission and click the view icon</a:t>
            </a:r>
          </a:p>
        </p:txBody>
      </p:sp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32945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000"/>
              <a:buFont typeface="Arial" panose="020B0604020202020204"/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3.  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Update an Existing Submission-2</a:t>
            </a:r>
            <a:endParaRPr sz="31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44403"/>
          <a:stretch>
            <a:fillRect/>
          </a:stretch>
        </p:blipFill>
        <p:spPr>
          <a:xfrm>
            <a:off x="5150485" y="1063625"/>
            <a:ext cx="3516630" cy="13690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850" y="2655570"/>
            <a:ext cx="3517265" cy="20707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76" name="Google Shape;176;p3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572000" y="3049270"/>
            <a:ext cx="306705" cy="2432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128270" y="918823"/>
            <a:ext cx="8215630" cy="35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d)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Update file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”.</a:t>
            </a:r>
          </a:p>
        </p:txBody>
      </p:sp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32945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000"/>
              <a:buFont typeface="Arial" panose="020B0604020202020204"/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3.  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Update an Existing Submission-2</a:t>
            </a:r>
            <a:endParaRPr sz="31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715" y="1750960"/>
            <a:ext cx="6156569" cy="31952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251460" y="1171575"/>
            <a:ext cx="4267835" cy="3483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e)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Upload the revised version of your submission.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en-GB"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f)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Submit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” to confirm the update.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en-GB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g)  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confirmation message will indicate that the file has been successfully uploaded.</a:t>
            </a:r>
          </a:p>
        </p:txBody>
      </p:sp>
      <p:sp>
        <p:nvSpPr>
          <p:cNvPr id="4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000"/>
              <a:buFont typeface="Arial" panose="020B0604020202020204"/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3.  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Update an Existing Submission-3</a:t>
            </a:r>
            <a:endParaRPr sz="31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681855" y="1171575"/>
            <a:ext cx="4192270" cy="2018030"/>
            <a:chOff x="7306" y="1845"/>
            <a:chExt cx="6602" cy="317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6" y="1845"/>
              <a:ext cx="6603" cy="3178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154" name="Google Shape;154;p27"/>
            <p:cNvPicPr preferRelativeResize="0"/>
            <p:nvPr/>
          </p:nvPicPr>
          <p:blipFill>
            <a:blip r:embed="rId4"/>
            <a:srcRect l="2585" t="73715" r="75152" b="20937"/>
            <a:stretch>
              <a:fillRect/>
            </a:stretch>
          </p:blipFill>
          <p:spPr>
            <a:xfrm>
              <a:off x="7879" y="3807"/>
              <a:ext cx="1606" cy="153"/>
            </a:xfrm>
            <a:prstGeom prst="rect">
              <a:avLst/>
            </a:prstGeom>
            <a:noFill/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b="62065"/>
          <a:stretch>
            <a:fillRect/>
          </a:stretch>
        </p:blipFill>
        <p:spPr>
          <a:xfrm>
            <a:off x="4681855" y="3343275"/>
            <a:ext cx="4183380" cy="12198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180975" y="4670425"/>
            <a:ext cx="8782685" cy="3768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b="1" dirty="0">
                <a:solidFill>
                  <a:schemeClr val="dk1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[Important] All submissions MUST comply with the formatting and template requirements (See Sections 5–8).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Check Review Results-1</a:t>
            </a:r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None/>
            </a:pPr>
            <a:r>
              <a:rPr lang="en-US" altLang="en-GB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a)  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Log in to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n"/>
            </a:pPr>
            <a:r>
              <a:rPr 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hlinkClick r:id="rId3" action="ppaction://hlinkfile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https://easychair.org/conferences/?conf=ieeeuv2026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600" u="sng" dirty="0">
              <a:solidFill>
                <a:schemeClr val="dk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140" y="2299335"/>
            <a:ext cx="3439160" cy="2633345"/>
          </a:xfrm>
          <a:prstGeom prst="rect">
            <a:avLst/>
          </a:prstGeom>
          <a:ln w="28575" cmpd="sng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None/>
            </a:pPr>
            <a:r>
              <a:rPr lang="en-US" altLang="en-GB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b)  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Author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” to access your submissions.</a:t>
            </a:r>
          </a:p>
        </p:txBody>
      </p:sp>
      <p:sp>
        <p:nvSpPr>
          <p:cNvPr id="160" name="Google Shape;160;p28"/>
          <p:cNvSpPr txBox="1"/>
          <p:nvPr/>
        </p:nvSpPr>
        <p:spPr>
          <a:xfrm>
            <a:off x="466640" y="39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Check Review Results-2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44403"/>
          <a:stretch>
            <a:fillRect/>
          </a:stretch>
        </p:blipFill>
        <p:spPr>
          <a:xfrm>
            <a:off x="2030730" y="1605915"/>
            <a:ext cx="5083175" cy="269113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body" idx="1"/>
          </p:nvPr>
        </p:nvSpPr>
        <p:spPr>
          <a:xfrm>
            <a:off x="245150" y="920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Select your submission and click the view icon         .</a:t>
            </a:r>
          </a:p>
        </p:txBody>
      </p:sp>
      <p:pic>
        <p:nvPicPr>
          <p:cNvPr id="176" name="Google Shape;176;p3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11040" y="1082040"/>
            <a:ext cx="306705" cy="2432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23166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Check Review Results-3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440" y="1885950"/>
            <a:ext cx="6166485" cy="309753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d) </a:t>
            </a:r>
            <a:r>
              <a:rPr lang="en-US" altLang="en-GB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Review the reviewer comments displayed on the page.</a:t>
            </a:r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623938" y="1713800"/>
            <a:ext cx="3895725" cy="33337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0" name="Google Shape;160;p28"/>
          <p:cNvSpPr txBox="1"/>
          <p:nvPr/>
        </p:nvSpPr>
        <p:spPr>
          <a:xfrm>
            <a:off x="438700" y="572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Check Review Results-4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38760" y="786130"/>
            <a:ext cx="8520430" cy="41548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For Paper Submissions [TS1 – TS12]:</a:t>
            </a:r>
            <a:endParaRPr 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Paper Types: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n"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Short Papers: 3–4 pages 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n"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Regular Papers: 5–8 pages  </a:t>
            </a:r>
            <a:r>
              <a:rPr lang="en-US" altLang="en-GB" sz="12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endParaRPr lang="en-US" sz="124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Requirements: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n"/>
            </a:pPr>
            <a:r>
              <a:rPr lang="en-US" altLang="zh-CN" sz="15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Submit one PDF file (US Letter format, not A4)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n"/>
            </a:pPr>
            <a:r>
              <a:rPr lang="en-US" altLang="zh-CN" sz="15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Include an abstract (100–300 words)</a:t>
            </a:r>
            <a:r>
              <a:rPr lang="en-US" altLang="en-GB" sz="15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altLang="en-GB" sz="1555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GB" sz="155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238675" y="213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Paper Submission Requirements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GB" sz="3110" b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6</a:t>
            </a:r>
            <a:r>
              <a:rPr lang="en-GB" sz="3110" b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zh-CN" sz="3110" b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Paper Template </a:t>
            </a:r>
          </a:p>
        </p:txBody>
      </p:sp>
      <p:sp>
        <p:nvSpPr>
          <p:cNvPr id="190" name="Google Shape;190;p32"/>
          <p:cNvSpPr txBox="1">
            <a:spLocks noGrp="1"/>
          </p:cNvSpPr>
          <p:nvPr>
            <p:ph type="body" idx="1"/>
          </p:nvPr>
        </p:nvSpPr>
        <p:spPr>
          <a:xfrm>
            <a:off x="311785" y="1017905"/>
            <a:ext cx="8578850" cy="4095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All submissions MUST use the IEEE two-column template:</a:t>
            </a:r>
          </a:p>
          <a:p>
            <a:pPr marL="0" lvl="0" indent="0" algn="l" rtl="0">
              <a:lnSpc>
                <a:spcPct val="150000"/>
              </a:lnSpc>
              <a:buSzPts val="1800"/>
              <a:buNone/>
            </a:pPr>
            <a:endParaRPr lang="en-US" altLang="zh-CN" sz="14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lnSpc>
                <a:spcPct val="150000"/>
              </a:lnSpc>
              <a:buSzPts val="180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UV2026 Resources:</a:t>
            </a:r>
          </a:p>
          <a:p>
            <a:pPr marL="285750" lvl="0" indent="-285750" algn="l" rtl="0">
              <a:lnSpc>
                <a:spcPct val="150000"/>
              </a:lnSpc>
              <a:buSzPts val="1800"/>
              <a:buChar char="●"/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UV2026 LaTeX Template</a:t>
            </a:r>
          </a:p>
          <a:p>
            <a:pPr marL="0" lvl="0" indent="0" algn="l" rtl="0">
              <a:lnSpc>
                <a:spcPct val="150000"/>
              </a:lnSpc>
              <a:buSzPts val="1800"/>
              <a:buNone/>
            </a:pP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https://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drive.google.com</a:t>
            </a: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/file/d/1giCI-NQoTDp-InrzXmdmsPOaIqIjhilt/view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 rtl="0">
              <a:lnSpc>
                <a:spcPct val="150000"/>
              </a:lnSpc>
              <a:buSzPts val="1800"/>
              <a:buChar char="●"/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Overleaf Guide (for First-Time Users)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50000"/>
              </a:lnSpc>
              <a:buSzPts val="1800"/>
              <a:buNone/>
            </a:pP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3"/>
              </a:rPr>
              <a:t>https://docs.google.com/document/d/14sOtRU2KhsCSTBiIJZ2LAXMBtu4fAosj/edit</a:t>
            </a:r>
            <a:endParaRPr lang="en-US" altLang="zh-CN" sz="1200" u="sng" dirty="0">
              <a:solidFill>
                <a:schemeClr val="hlink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 rtl="0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LaTeX Instructions (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IEEEtran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Guide):</a:t>
            </a:r>
          </a:p>
          <a:p>
            <a:pPr marL="0" lvl="0" indent="0" algn="l" rtl="0">
              <a:lnSpc>
                <a:spcPct val="150000"/>
              </a:lnSpc>
              <a:buNone/>
            </a:pP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http://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www.ctan.org</a:t>
            </a: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</a:t>
            </a: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-archive/macros/latex/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contrib</a:t>
            </a: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IEEEtran</a:t>
            </a: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IEEEtran_HOWTO.pdf</a:t>
            </a:r>
            <a:endParaRPr lang="en-US" altLang="zh-CN" sz="1200" u="sng" dirty="0">
              <a:solidFill>
                <a:schemeClr val="hlink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lnSpc>
                <a:spcPct val="150000"/>
              </a:lnSpc>
              <a:buSzPts val="1800"/>
              <a:buNone/>
            </a:pPr>
            <a:endParaRPr lang="en-US" altLang="zh-CN" sz="1200" u="sng" dirty="0">
              <a:solidFill>
                <a:schemeClr val="hlink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Formatting Requirements &amp; Checklist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71365" y="1049020"/>
            <a:ext cx="4260850" cy="3994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Submission Checklist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Before submission, please ensure:</a:t>
            </a:r>
            <a:endParaRPr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paper follows IEEE format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All fonts are embedded in the PDF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Figures and tables are clear and readable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 follow IEEE citation style</a:t>
            </a:r>
          </a:p>
          <a:p>
            <a:pPr marL="1143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[IEEE UV202</a:t>
            </a:r>
            <a:r>
              <a:rPr lang="en-US" altLang="en-GB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6</a:t>
            </a:r>
            <a:r>
              <a:rPr lang="en-GB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]</a:t>
            </a:r>
            <a:r>
              <a:rPr lang="en-US" altLang="en-GB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GB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Format &amp; Font Error Checklist</a:t>
            </a:r>
            <a:br>
              <a:rPr lang="en-GB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GB" sz="1050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3"/>
              </a:rPr>
              <a:t>https://docs.google.com/document/d/1QnzxN1ThMlvL_A9SyiQ_TOT4-vhXnC36/edit?usp=sharing&amp;ouid=109822557424734033356&amp;rtpof=true&amp;sd=true</a:t>
            </a:r>
            <a:r>
              <a:rPr lang="en-GB" sz="1050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GB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2420" y="1116330"/>
            <a:ext cx="4258945" cy="3926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IEEE Compliance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All submissions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MUST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comply with IEEE formatting standards:</a:t>
            </a:r>
            <a:endParaRPr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Use the IEEE two-column format 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Embed all fonts in the PDF 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Remove headers, footers, and page numbers 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Do not underline URLs or email addresses 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Detailed guidelines:</a:t>
            </a:r>
            <a:endParaRPr lang="en-US" altLang="zh-CN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4"/>
              </a:rPr>
              <a:t>https://standards.ieee.org/content/dam/ieee-standards/standards/web/documents/other/embeddedfonts.pdf</a:t>
            </a:r>
            <a:r>
              <a:rPr lang="en-US" altLang="zh-CN" sz="1050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238675" y="213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Forum &amp; Competition Submissions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38125" y="915670"/>
            <a:ext cx="4333875" cy="4144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Applicable Tracks: [CF][SF][AF][DSC][MC][PC][K12C]</a:t>
            </a:r>
          </a:p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Submission Requirements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All submissions must include: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An abstract (100–300 words)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Presentation slides (5–20 pages, PDF or PowerPoint)</a:t>
            </a:r>
          </a:p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Additional Requirements (Competitions Only)</a:t>
            </a:r>
          </a:p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For Data Science Competition (DSC) and Modeling Competition (MC):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 full paper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Supporting materials (e.g. code, video demonstrations)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2000" y="915670"/>
            <a:ext cx="4008120" cy="2945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Acceptance Policy</a:t>
            </a:r>
          </a:p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For accepted submissions: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At least one author must register for IEEE UV2026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Authors must submit presentation slides (PDF/PPT)</a:t>
            </a:r>
            <a:endParaRPr lang="en-US" altLang="zh-CN" dirty="0">
              <a:solidFill>
                <a:srgbClr val="3F3F3F"/>
              </a:solidFill>
              <a:effectLst/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The work must be presented at the conference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-635" y="0"/>
            <a:ext cx="9144635" cy="5143500"/>
          </a:xfrm>
        </p:spPr>
        <p:txBody>
          <a:bodyPr anchor="ctr" anchorCtr="0"/>
          <a:lstStyle/>
          <a:p>
            <a:pPr marL="114300" indent="0" algn="ctr"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For any submission-related inquiries:</a:t>
            </a:r>
          </a:p>
          <a:p>
            <a:pPr marL="114300" indent="0" algn="ctr">
              <a:buNone/>
            </a:pPr>
            <a:r>
              <a:rPr lang="en-US" altLang="zh-CN" sz="3200" b="1" u="sng" dirty="0">
                <a:latin typeface="Times New Roman" panose="02020603050405020304" charset="0"/>
                <a:cs typeface="Times New Roman" panose="02020603050405020304" charset="0"/>
                <a:hlinkClick r:id="rId2"/>
              </a:rPr>
              <a:t>uv2026.conf@universal-village.org</a:t>
            </a:r>
            <a:endParaRPr lang="en-US" altLang="zh-CN" sz="3200" b="1" u="sng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endParaRPr lang="en-US" altLang="zh-CN" sz="32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311700" y="41899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GB" sz="270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9</a:t>
            </a:r>
            <a:r>
              <a:rPr lang="en-GB" sz="270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zh-CN" sz="270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Contact Information Account Creation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8571</TotalTime>
  <Words>1232</Words>
  <Application>Microsoft Macintosh PowerPoint</Application>
  <PresentationFormat>On-screen Show (16:9)</PresentationFormat>
  <Paragraphs>152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Times New Roman</vt:lpstr>
      <vt:lpstr>Wingdings</vt:lpstr>
      <vt:lpstr>Simple Light</vt:lpstr>
      <vt:lpstr>Instructions for IEEE UV2026  Paper and Presentation Submission on EasyChair</vt:lpstr>
      <vt:lpstr>Outline</vt:lpstr>
      <vt:lpstr>1. Create an EasyChair Account-1</vt:lpstr>
      <vt:lpstr>PowerPoint Presentation</vt:lpstr>
      <vt:lpstr>Create an EasyChair Account-3</vt:lpstr>
      <vt:lpstr>Create an EasyChair Account-4</vt:lpstr>
      <vt:lpstr>Create an EasyChair Account-5</vt:lpstr>
      <vt:lpstr>Create an EasyChair Account-6</vt:lpstr>
      <vt:lpstr>PowerPoint Presentation</vt:lpstr>
      <vt:lpstr>PowerPoint Presentation</vt:lpstr>
      <vt:lpstr>2. Submit a New Paper-1</vt:lpstr>
      <vt:lpstr>PowerPoint Presentation</vt:lpstr>
      <vt:lpstr>2. Submit a New Paper-3</vt:lpstr>
      <vt:lpstr>2. Submit a New Paper-4</vt:lpstr>
      <vt:lpstr>3.   Update an Existing Submission-1</vt:lpstr>
      <vt:lpstr>3.   Update an Existing Submission-2</vt:lpstr>
      <vt:lpstr>3.   Update an Existing Submission-2</vt:lpstr>
      <vt:lpstr>3.   Update an Existing Submission-3</vt:lpstr>
      <vt:lpstr>4. Check Review Results-1</vt:lpstr>
      <vt:lpstr>PowerPoint Presentation</vt:lpstr>
      <vt:lpstr>4. Check Review Results-3</vt:lpstr>
      <vt:lpstr>PowerPoint Presentation</vt:lpstr>
      <vt:lpstr>5. Paper Submission Requirements</vt:lpstr>
      <vt:lpstr>6. Paper Template </vt:lpstr>
      <vt:lpstr>7. Formatting Requirements &amp; Checklist</vt:lpstr>
      <vt:lpstr>8. Forum &amp; Competition Submissions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for IEEE UV2026 Paper Submission</dc:title>
  <dc:creator/>
  <cp:lastModifiedBy>b139</cp:lastModifiedBy>
  <cp:revision>41</cp:revision>
  <dcterms:created xsi:type="dcterms:W3CDTF">2026-03-07T16:37:00Z</dcterms:created>
  <dcterms:modified xsi:type="dcterms:W3CDTF">2026-06-06T03:21:37Z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2BE4E4AFEB974AD684A89225A88FE9A1_13</vt:lpwstr>
  </property>
</Properties>
</file>