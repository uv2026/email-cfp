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UV-k12@universal-village.or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asychair.org/conferences/?conf=ieeeuv2026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773631" y="1858060"/>
            <a:ext cx="5605780" cy="172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ts val="2217"/>
              </a:lnSpc>
              <a:tabLst/>
            </a:pPr>
            <a:r>
              <a:rPr sz="3200" b="1" kern="0" spc="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Instructions for</a:t>
            </a:r>
            <a:r>
              <a:rPr sz="32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IEEE UV2026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5440"/>
              </a:lnSpc>
              <a:tabLst/>
            </a:pPr>
            <a:r>
              <a:rPr sz="3200" b="1" kern="0" spc="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K-12 Submissions </a:t>
            </a:r>
            <a:r>
              <a:rPr sz="32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 EasyChair</a:t>
            </a:r>
            <a:endParaRPr sz="3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93420" algn="l" rtl="0" eaLnBrk="0">
              <a:lnSpc>
                <a:spcPct val="78000"/>
              </a:lnSpc>
              <a:spcBef>
                <a:spcPts val="3"/>
              </a:spcBef>
              <a:tabLst/>
            </a:pPr>
            <a:r>
              <a:rPr sz="1800" kern="0" spc="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K-12 Contact: UV-k12@universal-villa</a:t>
            </a:r>
            <a:r>
              <a:rPr sz="1800" kern="0" spc="-1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2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ge.org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459358" y="414782"/>
            <a:ext cx="8126094" cy="340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000" b="1" kern="0" spc="-2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Outline</a:t>
            </a:r>
            <a:endParaRPr sz="30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spcBef>
                <a:spcPts val="693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Create EasyChair Account                                   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[Slide 3]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7000"/>
              </a:lnSpc>
              <a:spcBef>
                <a:spcPts val="698"/>
              </a:spcBef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 a New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                                                          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[Slide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9]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spcBef>
                <a:spcPts val="701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Update an Existing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                                       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[Slide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14]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6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 Check Review Results                                      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[Slide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18]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15400" y="2131690"/>
            <a:ext cx="3725350" cy="2877824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484386" y="614738"/>
            <a:ext cx="6210300" cy="149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-1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589280" indent="-285750" algn="l" rtl="0" eaLnBrk="0">
              <a:lnSpc>
                <a:spcPts val="2099"/>
              </a:lnSpc>
              <a:spcBef>
                <a:spcPts val="1096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</a:t>
            </a: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Go to the EasyCh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air login page: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111000"/>
              </a:lnSpc>
              <a:spcBef>
                <a:spcPts val="788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EasyChair: 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Log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in</a:t>
            </a:r>
            <a:r>
              <a:rPr sz="1600" u="sng" kern="0" spc="-2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https://www.easychair.org/</a:t>
            </a:r>
            <a:r>
              <a:rPr sz="1600" u="sng" kern="0" spc="-3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account/signin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）</a:t>
            </a:r>
            <a:endParaRPr sz="1600" dirty="0">
              <a:latin typeface="Microsoft JhengHei"/>
              <a:ea typeface="Microsoft JhengHei"/>
              <a:cs typeface="Microsoft Jheng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81660" indent="-285750" algn="l" rtl="0" eaLnBrk="0">
              <a:lnSpc>
                <a:spcPts val="2099"/>
              </a:lnSpc>
              <a:spcBef>
                <a:spcPts val="1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</a:t>
            </a: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 account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 start the 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egistration process.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233514" y="1739375"/>
          <a:ext cx="4676775" cy="2748915"/>
        </p:xfrm>
        <a:graphic>
          <a:graphicData uri="http://schemas.openxmlformats.org/drawingml/2006/table">
            <a:tbl>
              <a:tblPr/>
              <a:tblGrid>
                <a:gridCol w="467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8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62089" y="1767950"/>
            <a:ext cx="4619822" cy="2720924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73478" y="982138"/>
            <a:ext cx="6568231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85750" indent="-285750" algn="r" rtl="0" eaLnBrk="0">
              <a:lnSpc>
                <a:spcPts val="2099"/>
              </a:lnSpc>
              <a:spcBef>
                <a:spcPts val="7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1-C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Complete the 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human verification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(reCA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PTCHA) as required.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AB7FF-4007-FEF4-FD00-718E84E13BCF}"/>
              </a:ext>
            </a:extLst>
          </p:cNvPr>
          <p:cNvSpPr txBox="1"/>
          <p:nvPr/>
        </p:nvSpPr>
        <p:spPr>
          <a:xfrm>
            <a:off x="1183822" y="474307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lang="en-US"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lang="en-US"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Account-2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95427" y="1688059"/>
            <a:ext cx="4682049" cy="29651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505669" y="830808"/>
            <a:ext cx="5467985" cy="85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85750" indent="-285750" algn="r" rtl="0" eaLnBrk="0">
              <a:lnSpc>
                <a:spcPts val="2099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1-D</a:t>
            </a: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Fill in your personal information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the registration form.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25EA0-A22E-BCF7-AD86-E61126370384}"/>
              </a:ext>
            </a:extLst>
          </p:cNvPr>
          <p:cNvSpPr txBox="1"/>
          <p:nvPr/>
        </p:nvSpPr>
        <p:spPr>
          <a:xfrm>
            <a:off x="816429" y="432901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lang="en-US"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lang="en-US"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Account-3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714574" y="1224378"/>
            <a:ext cx="3435350" cy="3369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165" indent="-285750" algn="l" rtl="0" eaLnBrk="0">
              <a:lnSpc>
                <a:spcPts val="2099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1-E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600" b="1" kern="0" spc="3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After sub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mitting the form,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12700" indent="5080" algn="l" rtl="0" eaLnBrk="0">
              <a:lnSpc>
                <a:spcPct val="140000"/>
              </a:lnSpc>
              <a:spcBef>
                <a:spcPts val="363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confirmation message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will be displayed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indicating that your applica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tion has been  received.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304800" indent="-285750" algn="l" rtl="0" eaLnBrk="0">
              <a:lnSpc>
                <a:spcPts val="2099"/>
              </a:lnSpc>
              <a:spcBef>
                <a:spcPts val="227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1-F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Check your email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inbox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2099"/>
              </a:lnSpc>
              <a:spcBef>
                <a:spcPts val="589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verification message fr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om EasyChair.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299084" indent="-285750" algn="l" rtl="0" eaLnBrk="0">
              <a:lnSpc>
                <a:spcPct val="140000"/>
              </a:lnSpc>
              <a:spcBef>
                <a:spcPts val="363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1-G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Enter the verification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code provided in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email.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298450" indent="-285750" algn="l" rtl="0" eaLnBrk="0">
              <a:lnSpc>
                <a:spcPct val="131000"/>
              </a:lnSpc>
              <a:spcBef>
                <a:spcPts val="23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1-H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account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finalize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your regis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tration.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69460" y="1061084"/>
            <a:ext cx="4432617" cy="217678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69460" y="3347085"/>
            <a:ext cx="4447538" cy="1748154"/>
          </a:xfrm>
          <a:prstGeom prst="rect">
            <a:avLst/>
          </a:prstGeom>
        </p:spPr>
      </p:pic>
      <p:sp>
        <p:nvSpPr>
          <p:cNvPr id="28" name="path 28"/>
          <p:cNvSpPr/>
          <p:nvPr/>
        </p:nvSpPr>
        <p:spPr>
          <a:xfrm>
            <a:off x="8987790" y="1075372"/>
            <a:ext cx="28575" cy="2148206"/>
          </a:xfrm>
          <a:custGeom>
            <a:avLst/>
            <a:gdLst/>
            <a:ahLst/>
            <a:cxnLst/>
            <a:rect l="0" t="0" r="0" b="0"/>
            <a:pathLst>
              <a:path w="45" h="3383">
                <a:moveTo>
                  <a:pt x="22" y="0"/>
                </a:moveTo>
                <a:lnTo>
                  <a:pt x="22" y="3383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F85F1-4AA8-9015-E9C8-57F461BB487F}"/>
              </a:ext>
            </a:extLst>
          </p:cNvPr>
          <p:cNvSpPr txBox="1"/>
          <p:nvPr/>
        </p:nvSpPr>
        <p:spPr>
          <a:xfrm>
            <a:off x="849086" y="408023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lang="en-US"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lang="en-US"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Account-4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3725282" y="1611974"/>
          <a:ext cx="5087620" cy="2428240"/>
        </p:xfrm>
        <a:graphic>
          <a:graphicData uri="http://schemas.openxmlformats.org/drawingml/2006/table">
            <a:tbl>
              <a:tblPr/>
              <a:tblGrid>
                <a:gridCol w="508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28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53857" y="1640550"/>
            <a:ext cx="5031050" cy="2400124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84892" y="1634115"/>
            <a:ext cx="3406775" cy="662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ct val="133000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1-I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the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“Click here</a:t>
            </a:r>
            <a:r>
              <a:rPr sz="1600" b="1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</a:t>
            </a:r>
            <a:r>
              <a:rPr sz="16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log</a:t>
            </a:r>
            <a:r>
              <a:rPr sz="16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in”</a:t>
            </a:r>
            <a:r>
              <a:rPr sz="16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link to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access the EasyCha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 login page.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C6507-7AF1-46F0-041D-5FC9EFD507C1}"/>
              </a:ext>
            </a:extLst>
          </p:cNvPr>
          <p:cNvSpPr txBox="1"/>
          <p:nvPr/>
        </p:nvSpPr>
        <p:spPr>
          <a:xfrm>
            <a:off x="669472" y="594994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lang="en-US"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lang="en-US"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Account-5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93023" y="1897388"/>
            <a:ext cx="5557951" cy="3019736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361118" y="658192"/>
            <a:ext cx="7884812" cy="838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1-J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600" b="1" kern="0" spc="3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You can now log in to EasyChair using your registered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email address</a:t>
            </a: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(or username)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 password.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978661" y="1527187"/>
            <a:ext cx="6370955" cy="309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>
                <a:tab pos="6357620" algn="l"/>
              </a:tabLst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u="sng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Log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600" u="dbl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in</a:t>
            </a:r>
            <a:r>
              <a:rPr sz="1600" u="sng" kern="0" spc="250" dirty="0">
                <a:solidFill>
                  <a:srgbClr val="0097A7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u="sng" kern="0" spc="-2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sz="1600" u="sng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https://easychair.org/conferences/?conf=ieeeuv2026</a:t>
            </a:r>
            <a:r>
              <a:rPr sz="1600" u="sng" kern="0" spc="-2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）</a:t>
            </a:r>
            <a:r>
              <a:rPr sz="1600" u="sng" kern="0" spc="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	</a:t>
            </a:r>
            <a:endParaRPr sz="1600" dirty="0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00CC9-C3B4-37D9-1B27-9644F3908E86}"/>
              </a:ext>
            </a:extLst>
          </p:cNvPr>
          <p:cNvSpPr txBox="1"/>
          <p:nvPr/>
        </p:nvSpPr>
        <p:spPr>
          <a:xfrm>
            <a:off x="898070" y="343956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lang="en-US" sz="2700" b="1" kern="0" spc="16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 err="1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lang="en-US" sz="2700" b="1" kern="0" spc="-13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Account-6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46575" y="2556510"/>
            <a:ext cx="4248785" cy="2203450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393256" y="614738"/>
            <a:ext cx="4050665" cy="1961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700" b="1" kern="0" spc="7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  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sz="2700" b="1" kern="0" spc="20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700" b="1" kern="0" spc="7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New</a:t>
            </a:r>
            <a:r>
              <a:rPr sz="2700" b="1" kern="0" spc="9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-1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4485" indent="-285750" algn="l" rtl="0" eaLnBrk="0">
              <a:lnSpc>
                <a:spcPts val="2099"/>
              </a:lnSpc>
              <a:spcBef>
                <a:spcPts val="48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2-A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Log in to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EasyChair: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335280" algn="l" rtl="0" eaLnBrk="0">
              <a:lnSpc>
                <a:spcPct val="111000"/>
              </a:lnSpc>
              <a:spcBef>
                <a:spcPts val="788"/>
              </a:spcBef>
              <a:tabLst/>
            </a:pP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</a:t>
            </a: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600" u="sng" kern="0" spc="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Log</a:t>
            </a:r>
            <a:r>
              <a:rPr sz="1600" u="sng" kern="0" spc="7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600" u="sng" kern="0" spc="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in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marL="628650" indent="6985" algn="l" rtl="0" eaLnBrk="0">
              <a:lnSpc>
                <a:spcPct val="142000"/>
              </a:lnSpc>
              <a:spcBef>
                <a:spcPts val="311"/>
              </a:spcBef>
              <a:tabLst/>
            </a:pPr>
            <a:r>
              <a:rPr sz="1600" u="sng" kern="0" spc="-10" dirty="0">
                <a:solidFill>
                  <a:srgbClr val="1155C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https://www.easychair.org/account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/sig</a:t>
            </a:r>
            <a:r>
              <a:rPr sz="1600" kern="0" spc="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nin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20650" y="228675"/>
            <a:ext cx="2903224" cy="2239249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-216740" y="3038197"/>
            <a:ext cx="4248785" cy="3173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85750" algn="r" rtl="0" eaLnBrk="0">
              <a:lnSpc>
                <a:spcPts val="2099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2-B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Click “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Make a new</a:t>
            </a:r>
            <a:r>
              <a:rPr lang="en-US" sz="1600" b="1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1600" kern="0" spc="-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84930" y="1240790"/>
            <a:ext cx="4927599" cy="3124199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418185" y="1249857"/>
            <a:ext cx="3419475" cy="3248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2-C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Compl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ete all required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fields: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0395" lvl="1" eaLnBrk="0">
              <a:spcBef>
                <a:spcPts val="485"/>
              </a:spcBef>
            </a:pP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Corresponding a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uthor information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lvl="1" eaLnBrk="0"/>
            <a:endParaRPr sz="1400" dirty="0">
              <a:latin typeface="Arial"/>
              <a:ea typeface="Arial"/>
              <a:cs typeface="Arial"/>
            </a:endParaRPr>
          </a:p>
          <a:p>
            <a:pPr marL="620395" lvl="1" eaLnBrk="0">
              <a:spcBef>
                <a:spcPts val="487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Author details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lvl="1" eaLnBrk="0"/>
            <a:endParaRPr sz="1400" dirty="0">
              <a:latin typeface="Arial"/>
              <a:ea typeface="Arial"/>
              <a:cs typeface="Arial"/>
            </a:endParaRPr>
          </a:p>
          <a:p>
            <a:pPr marL="620395" lvl="1" eaLnBrk="0">
              <a:spcBef>
                <a:spcPts val="484"/>
              </a:spcBef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Title</a:t>
            </a:r>
            <a:r>
              <a:rPr sz="1400" b="1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lvl="1" eaLnBrk="0"/>
            <a:endParaRPr sz="1400" dirty="0">
              <a:latin typeface="Arial"/>
              <a:ea typeface="Arial"/>
              <a:cs typeface="Arial"/>
            </a:endParaRPr>
          </a:p>
          <a:p>
            <a:pPr marL="620395" lvl="1" eaLnBrk="0">
              <a:spcBef>
                <a:spcPts val="490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Keywords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lvl="1" eaLnBrk="0"/>
            <a:endParaRPr sz="1400" dirty="0">
              <a:latin typeface="Arial"/>
              <a:ea typeface="Arial"/>
              <a:cs typeface="Arial"/>
            </a:endParaRPr>
          </a:p>
          <a:p>
            <a:pPr marL="620395" lvl="1" eaLnBrk="0">
              <a:spcBef>
                <a:spcPts val="484"/>
              </a:spcBef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File</a:t>
            </a: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upload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2-D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Upload your ma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nuscript as a PDF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file.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85903-EC1E-18B7-E42A-0C90DF4EBBEB}"/>
              </a:ext>
            </a:extLst>
          </p:cNvPr>
          <p:cNvSpPr txBox="1"/>
          <p:nvPr/>
        </p:nvSpPr>
        <p:spPr>
          <a:xfrm>
            <a:off x="857250" y="524595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lang="en-US" sz="2700" b="1" kern="0" spc="20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2700" b="1" kern="0" spc="7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New</a:t>
            </a:r>
            <a:r>
              <a:rPr lang="en-US" sz="2700" b="1" kern="0" spc="9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Paper-2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7200" y="1401019"/>
            <a:ext cx="8229600" cy="3437680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376529" y="224713"/>
            <a:ext cx="6783550" cy="1071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7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Submit a New</a:t>
            </a:r>
            <a:r>
              <a:rPr sz="2700" b="1" kern="0" spc="7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</a:t>
            </a:r>
            <a:r>
              <a:rPr sz="2700" b="1" kern="0" spc="6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700" b="1" kern="0" spc="14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</a:t>
            </a:r>
            <a:r>
              <a:rPr sz="2700" b="1" kern="0" spc="-2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ect</a:t>
            </a:r>
            <a:r>
              <a:rPr sz="2700" b="1" kern="0" spc="1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2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Category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86360" algn="l" rtl="0" eaLnBrk="0">
              <a:lnSpc>
                <a:spcPct val="78000"/>
              </a:lnSpc>
              <a:spcBef>
                <a:spcPts val="119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the Category section, under UV Competitions, se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lect: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950" algn="l" rtl="0" eaLnBrk="0">
              <a:lnSpc>
                <a:spcPct val="77000"/>
              </a:lnSpc>
              <a:tabLst/>
            </a:pPr>
            <a:r>
              <a:rPr sz="2100" b="1" kern="0" spc="-1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[K12C] UV K-12 Challeng</a:t>
            </a:r>
            <a:r>
              <a:rPr sz="2100" b="1" kern="0" spc="-20" dirty="0">
                <a:solidFill>
                  <a:srgbClr val="8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endParaRPr sz="21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0496" y="1779237"/>
            <a:ext cx="8363007" cy="1420025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424495" y="851502"/>
            <a:ext cx="5298669" cy="927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2-E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 finali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ze your submission.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rect 66"/>
          <p:cNvSpPr/>
          <p:nvPr/>
        </p:nvSpPr>
        <p:spPr>
          <a:xfrm>
            <a:off x="338018" y="3929448"/>
            <a:ext cx="8685728" cy="21336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textbox 68"/>
          <p:cNvSpPr/>
          <p:nvPr/>
        </p:nvSpPr>
        <p:spPr>
          <a:xfrm>
            <a:off x="332501" y="3883728"/>
            <a:ext cx="8691245" cy="259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36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[Important]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 not create multiple submissions for the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same work.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update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function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revisions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(See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Section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3).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54DDD-853A-63E3-F142-1FDE8ED091AD}"/>
              </a:ext>
            </a:extLst>
          </p:cNvPr>
          <p:cNvSpPr txBox="1"/>
          <p:nvPr/>
        </p:nvSpPr>
        <p:spPr>
          <a:xfrm>
            <a:off x="595993" y="492861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lang="en-US" sz="2700" b="1" kern="0" spc="20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2700" b="1" kern="0" spc="7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New</a:t>
            </a:r>
            <a:r>
              <a:rPr lang="en-US" sz="2700" b="1" kern="0" spc="9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Paper-</a:t>
            </a:r>
            <a:r>
              <a:rPr lang="en-US" sz="2700" b="1" kern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1515745" y="1767840"/>
          <a:ext cx="6111874" cy="3213735"/>
        </p:xfrm>
        <a:graphic>
          <a:graphicData uri="http://schemas.openxmlformats.org/drawingml/2006/table">
            <a:tbl>
              <a:tblPr/>
              <a:tblGrid>
                <a:gridCol w="6111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37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path 72"/>
          <p:cNvSpPr/>
          <p:nvPr/>
        </p:nvSpPr>
        <p:spPr>
          <a:xfrm>
            <a:off x="1515745" y="1767840"/>
            <a:ext cx="6112509" cy="3242309"/>
          </a:xfrm>
          <a:custGeom>
            <a:avLst/>
            <a:gdLst/>
            <a:ahLst/>
            <a:cxnLst/>
            <a:rect l="0" t="0" r="0" b="0"/>
            <a:pathLst>
              <a:path w="9625" h="5106">
                <a:moveTo>
                  <a:pt x="22" y="22"/>
                </a:moveTo>
                <a:lnTo>
                  <a:pt x="9603" y="22"/>
                </a:lnTo>
                <a:lnTo>
                  <a:pt x="9603" y="5083"/>
                </a:lnTo>
                <a:lnTo>
                  <a:pt x="22" y="5083"/>
                </a:lnTo>
                <a:lnTo>
                  <a:pt x="22" y="22"/>
                </a:lnTo>
                <a:close/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44320" y="1796415"/>
            <a:ext cx="6055359" cy="3185159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393256" y="811531"/>
            <a:ext cx="7019915" cy="927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24485" indent="-285750" algn="l" rtl="0" eaLnBrk="0">
              <a:lnSpc>
                <a:spcPts val="2099"/>
              </a:lnSpc>
              <a:spcBef>
                <a:spcPts val="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2-F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Upon successful submission,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 system will display your</a:t>
            </a:r>
            <a:r>
              <a:rPr sz="16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</a:t>
            </a:r>
            <a:r>
              <a:rPr sz="16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 sz="1600" b="1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16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details.</a:t>
            </a:r>
            <a:endParaRPr sz="16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28158-4ABA-1A70-3F78-712A53D0DD22}"/>
              </a:ext>
            </a:extLst>
          </p:cNvPr>
          <p:cNvSpPr txBox="1"/>
          <p:nvPr/>
        </p:nvSpPr>
        <p:spPr>
          <a:xfrm>
            <a:off x="718457" y="389371"/>
            <a:ext cx="457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lang="en-US" sz="2700" b="1" kern="0" spc="20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2700" b="1" kern="0" spc="7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New</a:t>
            </a:r>
            <a:r>
              <a:rPr lang="en-US" sz="2700" b="1" kern="0" spc="9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Paper-4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73363" y="1889450"/>
            <a:ext cx="3997275" cy="3073725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390412" y="614738"/>
            <a:ext cx="6965315" cy="1142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 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Update</a:t>
            </a:r>
            <a:r>
              <a:rPr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sz="2700" b="1" kern="0" spc="22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-1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441325" indent="-285750" algn="l" rtl="0" eaLnBrk="0">
              <a:lnSpc>
                <a:spcPct val="77000"/>
              </a:lnSpc>
              <a:spcBef>
                <a:spcPts val="1611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3-A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Log in to</a:t>
            </a:r>
            <a:r>
              <a:rPr sz="1600" b="1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1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EasyChair: 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Log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in</a:t>
            </a:r>
            <a:r>
              <a:rPr sz="1600" u="sng" kern="0" spc="-10" dirty="0">
                <a:solidFill>
                  <a:srgbClr val="0097A7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https://easychair.org/conferences/?conf=ieeeuv202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6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）</a:t>
            </a:r>
            <a:endParaRPr sz="1600" dirty="0"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2"/>
          <p:cNvSpPr/>
          <p:nvPr/>
        </p:nvSpPr>
        <p:spPr>
          <a:xfrm>
            <a:off x="389882" y="1167998"/>
            <a:ext cx="4579620" cy="1758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8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ct val="141000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3-B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Select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Author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 acc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ess your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dashboard.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05435" indent="-285750" algn="l" rtl="0" eaLnBrk="0">
              <a:lnSpc>
                <a:spcPct val="89000"/>
              </a:lnSpc>
              <a:spcBef>
                <a:spcPts val="3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3-C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Locate your submission and cl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ick the view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icon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kern="0" spc="-10" dirty="0">
                <a:solidFill>
                  <a:srgbClr val="A1A2A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回</a:t>
            </a:r>
            <a:endParaRPr sz="2800" dirty="0"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21275" y="2626995"/>
            <a:ext cx="3574415" cy="212788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21910" y="1035050"/>
            <a:ext cx="3573780" cy="1426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0BDAE-2E86-93AE-1019-41FD4FFCD04C}"/>
              </a:ext>
            </a:extLst>
          </p:cNvPr>
          <p:cNvSpPr txBox="1"/>
          <p:nvPr/>
        </p:nvSpPr>
        <p:spPr>
          <a:xfrm>
            <a:off x="726621" y="388619"/>
            <a:ext cx="5788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Update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lang="en-US" sz="2700" b="1" kern="0" spc="22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Submission-2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17625" y="1602104"/>
            <a:ext cx="6508750" cy="3405505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657942" y="579753"/>
            <a:ext cx="5621020" cy="1022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1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3-D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pdate file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1600" kern="0" spc="-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5DA81-9879-FE0C-6661-2C2C6FA06D84}"/>
              </a:ext>
            </a:extLst>
          </p:cNvPr>
          <p:cNvSpPr txBox="1"/>
          <p:nvPr/>
        </p:nvSpPr>
        <p:spPr>
          <a:xfrm>
            <a:off x="873578" y="329182"/>
            <a:ext cx="57231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Update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lang="en-US" sz="2700" b="1" kern="0" spc="22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Submission-3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53280" y="1143000"/>
            <a:ext cx="4250055" cy="207518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478052" y="1235252"/>
            <a:ext cx="4093947" cy="1643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8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ct val="141000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3-E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Upload the revised version of</a:t>
            </a:r>
            <a:r>
              <a:rPr sz="16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your 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2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3-F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Submit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 c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onfirm the update.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53280" y="3314700"/>
            <a:ext cx="4240530" cy="1276985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478052" y="3090360"/>
            <a:ext cx="3968750" cy="662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ct val="133000"/>
              </a:lnSpc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3-G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600" b="1" kern="0" spc="3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 confirmation m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essage will indicate that the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file has been succes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sfully uploaded.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EC238-E3BB-CCF6-85EC-EC9F0C753BAA}"/>
              </a:ext>
            </a:extLst>
          </p:cNvPr>
          <p:cNvSpPr txBox="1"/>
          <p:nvPr/>
        </p:nvSpPr>
        <p:spPr>
          <a:xfrm>
            <a:off x="996041" y="263663"/>
            <a:ext cx="53802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Update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</a:t>
            </a:r>
            <a:r>
              <a:rPr lang="en-US" sz="2700" b="1" kern="0" spc="14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Existing</a:t>
            </a:r>
            <a:r>
              <a:rPr lang="en-US" sz="2700" b="1" kern="0" spc="22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7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Submission-4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22125" y="2131025"/>
            <a:ext cx="3699762" cy="2858150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392040" y="614773"/>
            <a:ext cx="5831840" cy="1429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69000"/>
              </a:lnSpc>
              <a:tabLst/>
            </a:pPr>
            <a:r>
              <a:rPr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 Check </a:t>
            </a:r>
            <a:r>
              <a:rPr sz="2800" b="1" kern="0" spc="-1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Review Results</a:t>
            </a:r>
            <a:r>
              <a:rPr lang="en-US" sz="2800" b="1" kern="0" spc="-1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-1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50" indent="-285750" algn="l" rtl="0" eaLnBrk="0">
              <a:lnSpc>
                <a:spcPts val="2099"/>
              </a:lnSpc>
              <a:spcBef>
                <a:spcPts val="489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4-A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Log i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 to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EasyChair.</a:t>
            </a:r>
            <a:endParaRPr sz="1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1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  </a:t>
            </a:r>
            <a:r>
              <a:rPr sz="1600" u="sng" kern="0" spc="-20" dirty="0">
                <a:solidFill>
                  <a:srgbClr val="0097A7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3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Log in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https://easychair.org/conferenc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  <a:hlinkClick r:id="rId4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es/?conf=ieeeuv2026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）</a:t>
            </a:r>
            <a:endParaRPr sz="1600" dirty="0"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01838" y="1782745"/>
            <a:ext cx="5140324" cy="2748280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469045" y="612475"/>
            <a:ext cx="4187825" cy="812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ct val="69000"/>
              </a:lnSpc>
              <a:tabLst/>
            </a:pPr>
            <a:r>
              <a:rPr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Check </a:t>
            </a:r>
            <a:r>
              <a:rPr sz="2800" b="1" kern="0" spc="-1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Review Results-2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55650" lvl="1" indent="-285750" eaLnBrk="0">
              <a:lnSpc>
                <a:spcPts val="2099"/>
              </a:lnSpc>
              <a:spcBef>
                <a:spcPts val="4"/>
              </a:spcBef>
              <a:buFont typeface="Arial" panose="020B0604020202020204" pitchFamily="34" charset="0"/>
              <a:buChar char="•"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4-B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“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Author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 to access your s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ubmissions.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74152" y="1857375"/>
            <a:ext cx="6209347" cy="315468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455711" y="578146"/>
            <a:ext cx="4603115" cy="976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0645" algn="l" rtl="0" eaLnBrk="0">
              <a:lnSpc>
                <a:spcPct val="69000"/>
              </a:lnSpc>
              <a:tabLst/>
            </a:pPr>
            <a:r>
              <a:rPr lang="en-US" sz="2800" b="1" kern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Check </a:t>
            </a:r>
            <a:r>
              <a:rPr sz="2800" b="1" kern="0" spc="-1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Review Results-3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85750" indent="-285750" algn="r" rtl="0" eaLnBrk="0">
              <a:lnSpc>
                <a:spcPct val="86000"/>
              </a:lnSpc>
              <a:spcBef>
                <a:spcPts val="4"/>
              </a:spcBef>
              <a:buFont typeface="Arial" panose="020B0604020202020204" pitchFamily="34" charset="0"/>
              <a:buChar char="•"/>
              <a:tabLst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4-C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Select your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submission and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click the view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icon</a:t>
            </a:r>
            <a:r>
              <a:rPr sz="1600" kern="0" spc="2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kern="0" spc="-10" dirty="0">
                <a:solidFill>
                  <a:srgbClr val="A7A7A6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回</a:t>
            </a:r>
            <a:r>
              <a:rPr sz="2800" kern="0" spc="-450" dirty="0">
                <a:solidFill>
                  <a:srgbClr val="A7A7A6">
                    <a:alpha val="100000"/>
                  </a:srgb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6" name="path 116"/>
          <p:cNvSpPr/>
          <p:nvPr/>
        </p:nvSpPr>
        <p:spPr>
          <a:xfrm>
            <a:off x="1459865" y="1871662"/>
            <a:ext cx="28575" cy="3126105"/>
          </a:xfrm>
          <a:custGeom>
            <a:avLst/>
            <a:gdLst/>
            <a:ahLst/>
            <a:cxnLst/>
            <a:rect l="0" t="0" r="0" b="0"/>
            <a:pathLst>
              <a:path w="45" h="4923">
                <a:moveTo>
                  <a:pt x="22" y="4923"/>
                </a:moveTo>
                <a:lnTo>
                  <a:pt x="22" y="0"/>
                </a:lnTo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2595363" y="1685225"/>
          <a:ext cx="3952240" cy="3362325"/>
        </p:xfrm>
        <a:graphic>
          <a:graphicData uri="http://schemas.openxmlformats.org/drawingml/2006/table">
            <a:tbl>
              <a:tblPr/>
              <a:tblGrid>
                <a:gridCol w="39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2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23938" y="1713800"/>
            <a:ext cx="3895724" cy="3333750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391430" y="741773"/>
            <a:ext cx="5548328" cy="76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1605" algn="l" rtl="0" eaLnBrk="0">
              <a:lnSpc>
                <a:spcPct val="69000"/>
              </a:lnSpc>
              <a:tabLst/>
            </a:pPr>
            <a:r>
              <a:rPr lang="en-US"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Check </a:t>
            </a:r>
            <a:r>
              <a:rPr sz="2800" b="1" kern="0" spc="-1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Review Results-4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3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50" lvl="1" indent="-285750" eaLnBrk="0">
              <a:lnSpc>
                <a:spcPts val="2099"/>
              </a:lnSpc>
              <a:buFont typeface="Arial" panose="020B0604020202020204" pitchFamily="34" charset="0"/>
              <a:buChar char="•"/>
            </a:pPr>
            <a:r>
              <a:rPr lang="en-US" sz="1600" b="1" kern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4-D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Review the reviewer comments di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splayed on the page.</a:t>
            </a:r>
            <a:endParaRPr sz="1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5DF5DF-5495-A846-8BF1-588F4846035B}"/>
              </a:ext>
            </a:extLst>
          </p:cNvPr>
          <p:cNvSpPr txBox="1"/>
          <p:nvPr/>
        </p:nvSpPr>
        <p:spPr>
          <a:xfrm>
            <a:off x="1978639" y="1947549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kern="0" spc="0" dirty="0">
                <a:solidFill>
                  <a:srgbClr val="98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You are All set!</a:t>
            </a:r>
          </a:p>
          <a:p>
            <a:endParaRPr lang="en-US" sz="2800" b="1" kern="0" dirty="0">
              <a:solidFill>
                <a:srgbClr val="980000">
                  <a:alpha val="100000"/>
                </a:srgbClr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800" b="1" kern="0" dirty="0">
                <a:solidFill>
                  <a:srgbClr val="980000">
                    <a:alpha val="100000"/>
                  </a:srgbClr>
                </a:solidFill>
                <a:latin typeface="Times New Roman"/>
                <a:cs typeface="Times New Roman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14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613</Words>
  <Application>Microsoft Office PowerPoint</Application>
  <PresentationFormat>On-screen Show (16:9)</PresentationFormat>
  <Paragraphs>149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Microsoft JhengHei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UV2026 K-12 - EasyChair Instructions</dc:title>
  <cp:lastModifiedBy>Xiaoman Duan</cp:lastModifiedBy>
  <cp:revision>4</cp:revision>
  <dcterms:modified xsi:type="dcterms:W3CDTF">2026-09-26T21:34:46Z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2026-09-25T23:42:34Z</vt:filetime>
  </property>
</Properties>
</file>