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4"/>
  </p:notesMasterIdLst>
  <p:sldIdLst>
    <p:sldId id="256" r:id="rId2"/>
    <p:sldId id="257" r:id="rId3"/>
    <p:sldId id="258" r:id="rId4"/>
    <p:sldId id="278" r:id="rId5"/>
    <p:sldId id="279"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7" r:id="rId21"/>
    <p:sldId id="273" r:id="rId22"/>
    <p:sldId id="276"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F776D-74E1-CC4A-B0F7-E4149D30AC59}" v="14" dt="2026-05-31T05:18:48.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196"/>
    <p:restoredTop sz="94415"/>
  </p:normalViewPr>
  <p:slideViewPr>
    <p:cSldViewPr snapToGrid="0" showGuides="1">
      <p:cViewPr>
        <p:scale>
          <a:sx n="104" d="100"/>
          <a:sy n="104" d="100"/>
        </p:scale>
        <p:origin x="1728" y="1136"/>
      </p:cViewPr>
      <p:guideLst>
        <p:guide orient="horz" pos="1656"/>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a1d0804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a1d0804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3a1d08044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3a1d080442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3a1d080442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13a1d08044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a1d080442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a1d080442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3a1d08044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3a1d080442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3a1d080442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3a1d080442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3a1d08044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3a1d080442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838a199af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838a199af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PC Member?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838a199af7_7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838a199af7_7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38a199af7_7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38a199af7_7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838a199af7_7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838a199af7_7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838a199af7_7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838a199af7_7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38a199af7_7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838a199af7_7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f7f525a68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f7f525a68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f7f525a68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f7f525a68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f7f525a68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f7f525a68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f7f525a68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f7f525a68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18.xml"/><Relationship Id="rId5" Type="http://schemas.openxmlformats.org/officeDocument/2006/relationships/slide" Target="slide12.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hyperlink" Target="https://www.easychair.org/account/signin"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hyperlink" Target="https://easychair.org/my/conference?conf=ieeeuv2026"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asychair.org/conferences/?conf=ieeeUV2026"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presentation/d/1iRxcQvHMDWy1JPsIKlvU-GQZu6z5CVDB/edit?slide=id.g3da02449663_2_45#slide=id.g3da02449663_2_45"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hyperlink" Target="https://easychair.org/conferences/?conf=ieeeUV2026" TargetMode="External"/><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jpeg"/><Relationship Id="rId5" Type="http://schemas.openxmlformats.org/officeDocument/2006/relationships/image" Target="../media/image19.sv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easychair.org/conferences/?conf=ieeeUV2026"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4.jpeg"/><Relationship Id="rId5" Type="http://schemas.openxmlformats.org/officeDocument/2006/relationships/image" Target="../media/image10.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5.jpeg"/><Relationship Id="rId5" Type="http://schemas.openxmlformats.org/officeDocument/2006/relationships/image" Target="../media/image10.sv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hyperlink" Target="https://easychair.org/conferences/?conf=ieeeUV2026"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3.sv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836550"/>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dirty="0">
                <a:solidFill>
                  <a:srgbClr val="980000"/>
                </a:solidFill>
              </a:rPr>
              <a:t>Instructions for </a:t>
            </a:r>
            <a:r>
              <a:rPr lang="en-US" dirty="0">
                <a:solidFill>
                  <a:srgbClr val="980000"/>
                </a:solidFill>
              </a:rPr>
              <a:t>UV2026</a:t>
            </a:r>
            <a:r>
              <a:rPr lang="en-GB" dirty="0">
                <a:solidFill>
                  <a:srgbClr val="980000"/>
                </a:solidFill>
              </a:rPr>
              <a:t> Paper Review &amp; Assignment on EasyChair</a:t>
            </a:r>
            <a:endParaRPr dirty="0">
              <a:solidFill>
                <a:srgbClr val="980000"/>
              </a:solidFill>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 Session Chair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980000"/>
                </a:solidFill>
              </a:rPr>
              <a:t>Outline</a:t>
            </a:r>
            <a:endParaRPr b="1" dirty="0">
              <a:solidFill>
                <a:srgbClr val="980000"/>
              </a:solidFill>
            </a:endParaRPr>
          </a:p>
        </p:txBody>
      </p:sp>
      <p:sp>
        <p:nvSpPr>
          <p:cNvPr id="61" name="Google Shape;61;p14"/>
          <p:cNvSpPr txBox="1">
            <a:spLocks noGrp="1"/>
          </p:cNvSpPr>
          <p:nvPr>
            <p:ph type="body" idx="1"/>
          </p:nvPr>
        </p:nvSpPr>
        <p:spPr>
          <a:xfrm>
            <a:off x="311700" y="108777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AutoNum type="arabicPeriod"/>
            </a:pPr>
            <a:r>
              <a:rPr lang="en-GB" sz="2000" dirty="0"/>
              <a:t>Account login                                                                        </a:t>
            </a:r>
            <a:r>
              <a:rPr lang="en-GB" sz="2000" dirty="0">
                <a:hlinkClick r:id="rId3" action="ppaction://hlinksldjump"/>
              </a:rPr>
              <a:t>[Slide 3]</a:t>
            </a:r>
            <a:r>
              <a:rPr lang="en-GB" sz="2000" dirty="0"/>
              <a:t>            </a:t>
            </a:r>
          </a:p>
          <a:p>
            <a:pPr marL="457200" marR="0" lvl="0" indent="-355600" algn="l" rtl="0">
              <a:lnSpc>
                <a:spcPct val="115000"/>
              </a:lnSpc>
              <a:spcBef>
                <a:spcPts val="0"/>
              </a:spcBef>
              <a:spcAft>
                <a:spcPts val="0"/>
              </a:spcAft>
              <a:buSzPts val="2000"/>
              <a:buAutoNum type="arabicPeriod"/>
            </a:pPr>
            <a:r>
              <a:rPr lang="en-GB" sz="2000" dirty="0"/>
              <a:t>Assign papers to reviewers as a session chair                    </a:t>
            </a:r>
            <a:r>
              <a:rPr lang="en-GB" sz="2000" dirty="0">
                <a:hlinkClick r:id="rId4" action="ppaction://hlinksldjump"/>
              </a:rPr>
              <a:t>[Slide </a:t>
            </a:r>
            <a:r>
              <a:rPr lang="en-US" altLang="zh-CN" sz="2000" dirty="0">
                <a:hlinkClick r:id="rId4" action="ppaction://hlinksldjump"/>
              </a:rPr>
              <a:t>6</a:t>
            </a:r>
            <a:r>
              <a:rPr lang="en-GB" sz="2000" dirty="0">
                <a:hlinkClick r:id="rId4" action="ppaction://hlinksldjump"/>
              </a:rPr>
              <a:t>]</a:t>
            </a:r>
            <a:endParaRPr lang="en-GB" sz="2000" dirty="0"/>
          </a:p>
          <a:p>
            <a:pPr marL="457200" marR="0" lvl="0" indent="-355600" algn="l" rtl="0">
              <a:lnSpc>
                <a:spcPct val="115000"/>
              </a:lnSpc>
              <a:spcBef>
                <a:spcPts val="0"/>
              </a:spcBef>
              <a:spcAft>
                <a:spcPts val="0"/>
              </a:spcAft>
              <a:buSzPts val="2000"/>
              <a:buAutoNum type="arabicPeriod"/>
            </a:pPr>
            <a:r>
              <a:rPr lang="en-GB" sz="2000" dirty="0"/>
              <a:t>Review papers as a session chair                                      </a:t>
            </a:r>
            <a:r>
              <a:rPr lang="en-GB" sz="2000" dirty="0">
                <a:hlinkClick r:id="rId5" action="ppaction://hlinksldjump"/>
              </a:rPr>
              <a:t>[Slide 1</a:t>
            </a:r>
            <a:r>
              <a:rPr lang="en-US" altLang="zh-CN" sz="2000" dirty="0">
                <a:hlinkClick r:id="rId5" action="ppaction://hlinksldjump"/>
              </a:rPr>
              <a:t>2</a:t>
            </a:r>
            <a:r>
              <a:rPr lang="en-GB" sz="2000" dirty="0">
                <a:hlinkClick r:id="rId5" action="ppaction://hlinksldjump"/>
              </a:rPr>
              <a:t>]</a:t>
            </a:r>
            <a:endParaRPr sz="2000" dirty="0"/>
          </a:p>
          <a:p>
            <a:pPr marL="457200" marR="0" lvl="0" indent="-355600" algn="l" rtl="0">
              <a:lnSpc>
                <a:spcPct val="115000"/>
              </a:lnSpc>
              <a:spcBef>
                <a:spcPts val="0"/>
              </a:spcBef>
              <a:spcAft>
                <a:spcPts val="0"/>
              </a:spcAft>
              <a:buSzPts val="2000"/>
              <a:buAutoNum type="arabicPeriod"/>
            </a:pPr>
            <a:r>
              <a:rPr lang="en-GB" sz="2000" dirty="0"/>
              <a:t>Check the review result as a session chair                        </a:t>
            </a:r>
            <a:r>
              <a:rPr lang="en-GB" sz="2000" dirty="0">
                <a:hlinkClick r:id="rId6" action="ppaction://hlinksldjump"/>
              </a:rPr>
              <a:t>[Slide 1</a:t>
            </a:r>
            <a:r>
              <a:rPr lang="en-US" altLang="zh-CN" sz="2000" dirty="0">
                <a:hlinkClick r:id="rId6" action="ppaction://hlinksldjump"/>
              </a:rPr>
              <a:t>8</a:t>
            </a:r>
            <a:r>
              <a:rPr lang="en-GB" sz="2000" dirty="0">
                <a:hlinkClick r:id="rId6" action="ppaction://hlinksldjump"/>
              </a:rPr>
              <a:t>]</a:t>
            </a:r>
            <a:endParaRPr sz="2000" dirty="0">
              <a:highlight>
                <a:srgbClr val="00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457200" lvl="0" indent="-381000" algn="l" rtl="0">
              <a:lnSpc>
                <a:spcPct val="115000"/>
              </a:lnSpc>
              <a:spcBef>
                <a:spcPts val="0"/>
              </a:spcBef>
              <a:spcAft>
                <a:spcPts val="0"/>
              </a:spcAft>
              <a:buClr>
                <a:srgbClr val="980000"/>
              </a:buClr>
              <a:buSzPts val="2400"/>
              <a:buAutoNum type="arabicPeriod"/>
            </a:pPr>
            <a:r>
              <a:rPr lang="en-GB" sz="2400" b="1" dirty="0">
                <a:solidFill>
                  <a:srgbClr val="980000"/>
                </a:solidFill>
              </a:rPr>
              <a:t>Account login (A)</a:t>
            </a:r>
            <a:endParaRPr sz="2400" b="1" dirty="0">
              <a:solidFill>
                <a:srgbClr val="980000"/>
              </a:solidFill>
            </a:endParaRPr>
          </a:p>
        </p:txBody>
      </p:sp>
      <p:sp>
        <p:nvSpPr>
          <p:cNvPr id="67" name="Google Shape;67;p15"/>
          <p:cNvSpPr txBox="1">
            <a:spLocks noGrp="1"/>
          </p:cNvSpPr>
          <p:nvPr>
            <p:ph type="body" idx="1"/>
          </p:nvPr>
        </p:nvSpPr>
        <p:spPr>
          <a:xfrm>
            <a:off x="311699" y="881180"/>
            <a:ext cx="8520600" cy="3278400"/>
          </a:xfrm>
          <a:prstGeom prst="rect">
            <a:avLst/>
          </a:prstGeom>
        </p:spPr>
        <p:txBody>
          <a:bodyPr spcFirstLastPara="1" wrap="square" lIns="91425" tIns="91425" rIns="91425" bIns="91425" anchor="t" anchorCtr="0">
            <a:normAutofit/>
          </a:bodyPr>
          <a:lstStyle/>
          <a:p>
            <a:pPr marL="914400" lvl="1" indent="-355600" algn="l" rtl="0">
              <a:spcBef>
                <a:spcPts val="0"/>
              </a:spcBef>
              <a:spcAft>
                <a:spcPts val="0"/>
              </a:spcAft>
              <a:buClr>
                <a:schemeClr val="dk1"/>
              </a:buClr>
              <a:buSzPts val="2000"/>
              <a:buAutoNum type="alphaLcParenR"/>
            </a:pPr>
            <a:r>
              <a:rPr lang="en-US" altLang="en-GB" sz="2000" dirty="0">
                <a:solidFill>
                  <a:schemeClr val="dk1"/>
                </a:solidFill>
              </a:rPr>
              <a:t>Visit </a:t>
            </a:r>
            <a:r>
              <a:rPr lang="en-US" altLang="en-US" sz="2000" dirty="0">
                <a:solidFill>
                  <a:schemeClr val="dk1"/>
                </a:solidFill>
                <a:hlinkClick r:id="rId3"/>
              </a:rPr>
              <a:t>https://www.easychair.org/account/signin</a:t>
            </a:r>
            <a:r>
              <a:rPr lang="en-US" altLang="en-US" sz="2000" dirty="0">
                <a:solidFill>
                  <a:schemeClr val="dk1"/>
                </a:solidFill>
              </a:rPr>
              <a:t> </a:t>
            </a:r>
            <a:endParaRPr lang="en-GB" sz="2000" dirty="0">
              <a:solidFill>
                <a:schemeClr val="dk1"/>
              </a:solidFill>
            </a:endParaRPr>
          </a:p>
          <a:p>
            <a:pPr marL="914400" lvl="1" indent="-355600" algn="l" rtl="0">
              <a:spcBef>
                <a:spcPts val="0"/>
              </a:spcBef>
              <a:spcAft>
                <a:spcPts val="0"/>
              </a:spcAft>
              <a:buClr>
                <a:schemeClr val="dk1"/>
              </a:buClr>
              <a:buSzPts val="2000"/>
              <a:buAutoNum type="alphaLcParenR"/>
            </a:pPr>
            <a:r>
              <a:rPr lang="en-GB" sz="2000" dirty="0">
                <a:solidFill>
                  <a:schemeClr val="dk1"/>
                </a:solidFill>
              </a:rPr>
              <a:t>Enter your session chair account and password. Click on the button “</a:t>
            </a:r>
            <a:r>
              <a:rPr lang="en-GB" sz="2000" b="1" dirty="0">
                <a:solidFill>
                  <a:srgbClr val="1155CC"/>
                </a:solidFill>
              </a:rPr>
              <a:t>Log in</a:t>
            </a:r>
            <a:r>
              <a:rPr lang="en-GB" sz="2000" dirty="0">
                <a:solidFill>
                  <a:schemeClr val="dk1"/>
                </a:solidFill>
              </a:rPr>
              <a:t>” </a:t>
            </a:r>
          </a:p>
          <a:p>
            <a:pPr marL="914400" lvl="1" indent="-355600" algn="l" rtl="0">
              <a:spcBef>
                <a:spcPts val="0"/>
              </a:spcBef>
              <a:spcAft>
                <a:spcPts val="0"/>
              </a:spcAft>
              <a:buClr>
                <a:schemeClr val="dk1"/>
              </a:buClr>
              <a:buSzPts val="2000"/>
              <a:buAutoNum type="alphaLcParenR"/>
            </a:pPr>
            <a:r>
              <a:rPr lang="en-US" sz="2000" dirty="0">
                <a:solidFill>
                  <a:schemeClr val="dk1"/>
                </a:solidFill>
              </a:rPr>
              <a:t>Then you can </a:t>
            </a:r>
            <a:r>
              <a:rPr lang="en-US" sz="2000" dirty="0">
                <a:solidFill>
                  <a:schemeClr val="dk1"/>
                </a:solidFill>
                <a:hlinkClick r:id="rId4"/>
              </a:rPr>
              <a:t>Access UV2026 Publication System</a:t>
            </a:r>
            <a:r>
              <a:rPr lang="en-US" sz="2000" dirty="0">
                <a:solidFill>
                  <a:schemeClr val="dk1"/>
                </a:solidFill>
              </a:rPr>
              <a:t> (</a:t>
            </a:r>
            <a:r>
              <a:rPr lang="en-US" altLang="en-US" sz="2000" dirty="0">
                <a:solidFill>
                  <a:schemeClr val="dk1"/>
                </a:solidFill>
              </a:rPr>
              <a:t>https://easychair.org/conferences/?conf=ieeeUV2026</a:t>
            </a:r>
            <a:r>
              <a:rPr lang="en-US" sz="2000" dirty="0">
                <a:solidFill>
                  <a:schemeClr val="dk1"/>
                </a:solidFill>
              </a:rPr>
              <a:t>)</a:t>
            </a:r>
            <a:endParaRPr sz="2000" dirty="0">
              <a:solidFill>
                <a:schemeClr val="dk1"/>
              </a:solidFill>
            </a:endParaRPr>
          </a:p>
          <a:p>
            <a:pPr marL="0" lvl="0" indent="0" algn="l" rtl="0">
              <a:spcBef>
                <a:spcPts val="0"/>
              </a:spcBef>
              <a:spcAft>
                <a:spcPts val="0"/>
              </a:spcAft>
              <a:buNone/>
            </a:pPr>
            <a:endParaRPr sz="2000" dirty="0"/>
          </a:p>
          <a:p>
            <a:pPr marL="0" lvl="0" indent="0" algn="l" rtl="0">
              <a:spcBef>
                <a:spcPts val="1200"/>
              </a:spcBef>
              <a:spcAft>
                <a:spcPts val="0"/>
              </a:spcAft>
              <a:buNone/>
            </a:pPr>
            <a:endParaRPr sz="2000" dirty="0"/>
          </a:p>
          <a:p>
            <a:pPr marL="0" lvl="0" indent="0" algn="l" rtl="0">
              <a:spcBef>
                <a:spcPts val="1200"/>
              </a:spcBef>
              <a:spcAft>
                <a:spcPts val="0"/>
              </a:spcAft>
              <a:buNone/>
            </a:pPr>
            <a:endParaRPr sz="2000" dirty="0"/>
          </a:p>
          <a:p>
            <a:pPr marL="0" lvl="0" indent="0" algn="l" rtl="0">
              <a:spcBef>
                <a:spcPts val="1200"/>
              </a:spcBef>
              <a:spcAft>
                <a:spcPts val="1200"/>
              </a:spcAft>
              <a:buNone/>
            </a:pPr>
            <a:endParaRPr sz="2000" dirty="0"/>
          </a:p>
        </p:txBody>
      </p:sp>
      <p:pic>
        <p:nvPicPr>
          <p:cNvPr id="68" name="Google Shape;68;p15"/>
          <p:cNvPicPr preferRelativeResize="0"/>
          <p:nvPr/>
        </p:nvPicPr>
        <p:blipFill>
          <a:blip r:embed="rId5"/>
          <a:stretch>
            <a:fillRect/>
          </a:stretch>
        </p:blipFill>
        <p:spPr>
          <a:xfrm>
            <a:off x="311785" y="2861945"/>
            <a:ext cx="4112895" cy="2223135"/>
          </a:xfrm>
          <a:prstGeom prst="rect">
            <a:avLst/>
          </a:prstGeom>
          <a:noFill/>
          <a:ln w="28575" cap="flat" cmpd="sng">
            <a:solidFill>
              <a:schemeClr val="tx1"/>
            </a:solidFill>
            <a:prstDash val="solid"/>
            <a:round/>
            <a:headEnd type="none" w="sm" len="sm"/>
            <a:tailEnd type="none" w="sm" len="sm"/>
          </a:ln>
        </p:spPr>
      </p:pic>
      <p:pic>
        <p:nvPicPr>
          <p:cNvPr id="2" name="Picture 1"/>
          <p:cNvPicPr>
            <a:picLocks noChangeAspect="1"/>
          </p:cNvPicPr>
          <p:nvPr/>
        </p:nvPicPr>
        <p:blipFill>
          <a:blip r:embed="rId6"/>
          <a:stretch>
            <a:fillRect/>
          </a:stretch>
        </p:blipFill>
        <p:spPr>
          <a:xfrm>
            <a:off x="4645660" y="3224530"/>
            <a:ext cx="4186555" cy="935355"/>
          </a:xfrm>
          <a:prstGeom prst="rect">
            <a:avLst/>
          </a:prstGeom>
          <a:ln w="28575">
            <a:solidFill>
              <a:schemeClr val="tx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56125" y="119905"/>
            <a:ext cx="8520600" cy="572700"/>
          </a:xfrm>
          <a:prstGeom prst="rect">
            <a:avLst/>
          </a:prstGeom>
        </p:spPr>
        <p:txBody>
          <a:bodyPr spcFirstLastPara="1" wrap="square" lIns="91425" tIns="91425" rIns="91425" bIns="91425" anchor="t" anchorCtr="0">
            <a:normAutofit fontScale="90000"/>
          </a:bodyPr>
          <a:lstStyle/>
          <a:p>
            <a:pPr marL="457200" lvl="0" indent="-381000" algn="l" rtl="0">
              <a:lnSpc>
                <a:spcPct val="115000"/>
              </a:lnSpc>
              <a:spcBef>
                <a:spcPts val="0"/>
              </a:spcBef>
              <a:spcAft>
                <a:spcPts val="0"/>
              </a:spcAft>
              <a:buClr>
                <a:srgbClr val="980000"/>
              </a:buClr>
              <a:buSzPts val="2400"/>
              <a:buAutoNum type="arabicPeriod"/>
            </a:pPr>
            <a:r>
              <a:rPr lang="en-GB" sz="2400" b="1" dirty="0">
                <a:solidFill>
                  <a:srgbClr val="980000"/>
                </a:solidFill>
              </a:rPr>
              <a:t>Account login (B)</a:t>
            </a:r>
            <a:r>
              <a:rPr lang="en-US" altLang="en-GB" sz="2400" b="1" dirty="0">
                <a:solidFill>
                  <a:srgbClr val="980000"/>
                </a:solidFill>
              </a:rPr>
              <a:t> </a:t>
            </a:r>
            <a:endParaRPr lang="en-US" altLang="en-US" sz="2400" b="1" dirty="0">
              <a:solidFill>
                <a:srgbClr val="980000"/>
              </a:solidFill>
            </a:endParaRPr>
          </a:p>
        </p:txBody>
      </p:sp>
      <p:sp>
        <p:nvSpPr>
          <p:cNvPr id="67" name="Google Shape;67;p15"/>
          <p:cNvSpPr txBox="1">
            <a:spLocks noGrp="1"/>
          </p:cNvSpPr>
          <p:nvPr>
            <p:ph type="body" idx="1"/>
          </p:nvPr>
        </p:nvSpPr>
        <p:spPr>
          <a:xfrm>
            <a:off x="156124" y="555424"/>
            <a:ext cx="8520600" cy="4048943"/>
          </a:xfrm>
          <a:prstGeom prst="rect">
            <a:avLst/>
          </a:prstGeom>
        </p:spPr>
        <p:txBody>
          <a:bodyPr spcFirstLastPara="1" wrap="square" lIns="91425" tIns="91425" rIns="91425" bIns="91425" anchor="t" anchorCtr="0">
            <a:normAutofit/>
          </a:bodyPr>
          <a:lstStyle/>
          <a:p>
            <a:pPr marL="558800" lvl="1" indent="0">
              <a:buClr>
                <a:schemeClr val="dk1"/>
              </a:buClr>
              <a:buSzPts val="2000"/>
              <a:buNone/>
            </a:pPr>
            <a:r>
              <a:rPr lang="en-US" sz="1800" dirty="0">
                <a:solidFill>
                  <a:srgbClr val="00B050"/>
                </a:solidFill>
              </a:rPr>
              <a:t>Please make sure that you are logged in to </a:t>
            </a:r>
            <a:r>
              <a:rPr lang="en-US" sz="1800" dirty="0" err="1">
                <a:solidFill>
                  <a:srgbClr val="00B050"/>
                </a:solidFill>
              </a:rPr>
              <a:t>EasyChair</a:t>
            </a:r>
            <a:r>
              <a:rPr lang="en-US" sz="1800" dirty="0">
                <a:solidFill>
                  <a:srgbClr val="00B050"/>
                </a:solidFill>
              </a:rPr>
              <a:t> before accessing the IEEE UV2026 conference page</a:t>
            </a:r>
            <a:r>
              <a:rPr lang="en-US" sz="1800" i="1" dirty="0">
                <a:solidFill>
                  <a:srgbClr val="00B050"/>
                </a:solidFill>
              </a:rPr>
              <a:t> </a:t>
            </a:r>
            <a:r>
              <a:rPr lang="en-US" sz="1300" i="1" dirty="0">
                <a:solidFill>
                  <a:srgbClr val="00B050"/>
                </a:solidFill>
              </a:rPr>
              <a:t>(</a:t>
            </a:r>
            <a:r>
              <a:rPr lang="en-US" sz="1300" i="1" dirty="0">
                <a:solidFill>
                  <a:srgbClr val="00B050"/>
                </a:solidFill>
                <a:hlinkClick r:id="rId3"/>
              </a:rPr>
              <a:t>https://easychair.org/conferences/?conf=ieeeUV2026</a:t>
            </a:r>
            <a:r>
              <a:rPr lang="en-US" sz="1300" i="1" dirty="0">
                <a:solidFill>
                  <a:srgbClr val="00B050"/>
                </a:solidFill>
              </a:rPr>
              <a:t>)</a:t>
            </a:r>
            <a:r>
              <a:rPr lang="en-US" sz="2100" dirty="0">
                <a:solidFill>
                  <a:srgbClr val="00B050"/>
                </a:solidFill>
              </a:rPr>
              <a:t>.</a:t>
            </a:r>
            <a:r>
              <a:rPr lang="en-US" sz="1800" i="1" dirty="0">
                <a:solidFill>
                  <a:srgbClr val="00B050"/>
                </a:solidFill>
              </a:rPr>
              <a:t> </a:t>
            </a:r>
          </a:p>
          <a:p>
            <a:pPr marL="558800" lvl="1" indent="0">
              <a:buClr>
                <a:schemeClr val="dk1"/>
              </a:buClr>
              <a:buSzPts val="2000"/>
              <a:buNone/>
            </a:pPr>
            <a:r>
              <a:rPr lang="en-US" sz="1800" i="1" dirty="0">
                <a:solidFill>
                  <a:srgbClr val="00B050"/>
                </a:solidFill>
              </a:rPr>
              <a:t>Otherwise, you may encounter the following error message.</a:t>
            </a:r>
            <a:endParaRPr lang="en-US" sz="2000" i="1" dirty="0">
              <a:solidFill>
                <a:schemeClr val="dk1"/>
              </a:solidFill>
            </a:endParaRPr>
          </a:p>
          <a:p>
            <a:pPr marL="914400" lvl="1" indent="-355600" algn="l" rtl="0">
              <a:spcBef>
                <a:spcPts val="0"/>
              </a:spcBef>
              <a:spcAft>
                <a:spcPts val="0"/>
              </a:spcAft>
              <a:buClr>
                <a:schemeClr val="dk1"/>
              </a:buClr>
              <a:buSzPts val="2000"/>
              <a:buAutoNum type="alphaLcParenR"/>
            </a:pPr>
            <a:endParaRPr lang="en-US" sz="2000" dirty="0">
              <a:solidFill>
                <a:schemeClr val="dk1"/>
              </a:solidFill>
            </a:endParaRPr>
          </a:p>
          <a:p>
            <a:pPr marL="914400" lvl="1" indent="-355600" algn="l" rtl="0">
              <a:spcBef>
                <a:spcPts val="0"/>
              </a:spcBef>
              <a:spcAft>
                <a:spcPts val="0"/>
              </a:spcAft>
              <a:buClr>
                <a:schemeClr val="dk1"/>
              </a:buClr>
              <a:buSzPts val="2000"/>
              <a:buAutoNum type="alphaLcParenR"/>
            </a:pPr>
            <a:endParaRPr lang="en-US" sz="2000" dirty="0">
              <a:solidFill>
                <a:schemeClr val="dk1"/>
              </a:solidFill>
            </a:endParaRPr>
          </a:p>
          <a:p>
            <a:pPr marL="914400" lvl="1" indent="-355600" algn="l" rtl="0">
              <a:spcBef>
                <a:spcPts val="0"/>
              </a:spcBef>
              <a:spcAft>
                <a:spcPts val="0"/>
              </a:spcAft>
              <a:buClr>
                <a:schemeClr val="dk1"/>
              </a:buClr>
              <a:buSzPts val="2000"/>
              <a:buAutoNum type="alphaLcParenR"/>
            </a:pPr>
            <a:endParaRPr lang="en-US" sz="2000" dirty="0">
              <a:solidFill>
                <a:schemeClr val="dk1"/>
              </a:solidFill>
            </a:endParaRPr>
          </a:p>
          <a:p>
            <a:pPr marL="558800" lvl="1" indent="0" algn="l" rtl="0">
              <a:spcBef>
                <a:spcPts val="0"/>
              </a:spcBef>
              <a:spcAft>
                <a:spcPts val="0"/>
              </a:spcAft>
              <a:buClr>
                <a:schemeClr val="dk1"/>
              </a:buClr>
              <a:buSzPts val="2000"/>
              <a:buNone/>
            </a:pPr>
            <a:endParaRPr lang="en-US" sz="2000" dirty="0">
              <a:solidFill>
                <a:schemeClr val="dk1"/>
              </a:solidFill>
            </a:endParaRPr>
          </a:p>
          <a:p>
            <a:pPr marL="914400" lvl="1" indent="-355600" algn="l" rtl="0">
              <a:spcBef>
                <a:spcPts val="0"/>
              </a:spcBef>
              <a:spcAft>
                <a:spcPts val="0"/>
              </a:spcAft>
              <a:buClr>
                <a:schemeClr val="dk1"/>
              </a:buClr>
              <a:buSzPts val="2000"/>
              <a:buAutoNum type="alphaLcParenR"/>
            </a:pPr>
            <a:endParaRPr lang="en-US" sz="2000" dirty="0">
              <a:solidFill>
                <a:schemeClr val="dk1"/>
              </a:solidFill>
            </a:endParaRPr>
          </a:p>
          <a:p>
            <a:pPr marL="914400" lvl="1" indent="-355600" algn="l" rtl="0">
              <a:spcBef>
                <a:spcPts val="0"/>
              </a:spcBef>
              <a:spcAft>
                <a:spcPts val="0"/>
              </a:spcAft>
              <a:buClr>
                <a:schemeClr val="dk1"/>
              </a:buClr>
              <a:buSzPts val="2000"/>
              <a:buAutoNum type="alphaLcParenR"/>
            </a:pPr>
            <a:r>
              <a:rPr lang="en-US" sz="2000" dirty="0">
                <a:solidFill>
                  <a:schemeClr val="dk1"/>
                </a:solidFill>
              </a:rPr>
              <a:t>Please click the </a:t>
            </a:r>
            <a:r>
              <a:rPr lang="en-US" sz="2000" dirty="0">
                <a:solidFill>
                  <a:schemeClr val="dk1"/>
                </a:solidFill>
                <a:sym typeface="+mn-ea"/>
              </a:rPr>
              <a:t>“</a:t>
            </a:r>
            <a:r>
              <a:rPr lang="en-US" sz="2000" b="1" dirty="0">
                <a:solidFill>
                  <a:srgbClr val="1155CC"/>
                </a:solidFill>
                <a:sym typeface="+mn-ea"/>
              </a:rPr>
              <a:t>Log in</a:t>
            </a:r>
            <a:r>
              <a:rPr lang="en-US" sz="2000" dirty="0">
                <a:solidFill>
                  <a:schemeClr val="dk1"/>
                </a:solidFill>
                <a:sym typeface="+mn-ea"/>
              </a:rPr>
              <a:t>”</a:t>
            </a:r>
            <a:r>
              <a:rPr lang="en-US" altLang="en-GB" sz="2000" dirty="0">
                <a:solidFill>
                  <a:schemeClr val="dk1"/>
                </a:solidFill>
                <a:sym typeface="+mn-ea"/>
              </a:rPr>
              <a:t> on the top right corner AND enter your </a:t>
            </a:r>
            <a:r>
              <a:rPr lang="en-US" sz="2000" dirty="0">
                <a:solidFill>
                  <a:schemeClr val="dk1"/>
                </a:solidFill>
                <a:sym typeface="+mn-ea"/>
              </a:rPr>
              <a:t>account and password</a:t>
            </a:r>
            <a:r>
              <a:rPr lang="en-US" altLang="en-GB" sz="2000" dirty="0">
                <a:solidFill>
                  <a:schemeClr val="dk1"/>
                </a:solidFill>
                <a:sym typeface="+mn-ea"/>
              </a:rPr>
              <a:t> to log in. </a:t>
            </a:r>
            <a:endParaRPr sz="2000" dirty="0"/>
          </a:p>
          <a:p>
            <a:pPr marL="0" lvl="0" indent="0" algn="l" rtl="0">
              <a:spcBef>
                <a:spcPts val="1200"/>
              </a:spcBef>
              <a:spcAft>
                <a:spcPts val="1200"/>
              </a:spcAft>
              <a:buNone/>
            </a:pPr>
            <a:endParaRPr sz="2000" dirty="0"/>
          </a:p>
        </p:txBody>
      </p:sp>
      <p:grpSp>
        <p:nvGrpSpPr>
          <p:cNvPr id="9" name="Group 8">
            <a:extLst>
              <a:ext uri="{FF2B5EF4-FFF2-40B4-BE49-F238E27FC236}">
                <a16:creationId xmlns:a16="http://schemas.microsoft.com/office/drawing/2014/main" id="{787AB93D-052F-1BBE-52ED-8E62A5EB1B0A}"/>
              </a:ext>
            </a:extLst>
          </p:cNvPr>
          <p:cNvGrpSpPr/>
          <p:nvPr/>
        </p:nvGrpSpPr>
        <p:grpSpPr>
          <a:xfrm>
            <a:off x="156124" y="1412933"/>
            <a:ext cx="8977800" cy="1633855"/>
            <a:chOff x="156124" y="1526222"/>
            <a:chExt cx="8977800" cy="1633855"/>
          </a:xfrm>
        </p:grpSpPr>
        <p:pic>
          <p:nvPicPr>
            <p:cNvPr id="4" name="Picture 3"/>
            <p:cNvPicPr>
              <a:picLocks noChangeAspect="1"/>
            </p:cNvPicPr>
            <p:nvPr/>
          </p:nvPicPr>
          <p:blipFill>
            <a:blip r:embed="rId4"/>
            <a:stretch>
              <a:fillRect/>
            </a:stretch>
          </p:blipFill>
          <p:spPr>
            <a:xfrm>
              <a:off x="156124" y="1983422"/>
              <a:ext cx="8830945" cy="1176655"/>
            </a:xfrm>
            <a:prstGeom prst="rect">
              <a:avLst/>
            </a:prstGeom>
            <a:ln w="28575">
              <a:solidFill>
                <a:schemeClr val="tx1"/>
              </a:solidFill>
            </a:ln>
          </p:spPr>
        </p:pic>
        <p:sp>
          <p:nvSpPr>
            <p:cNvPr id="2" name="Rectangle 1">
              <a:extLst>
                <a:ext uri="{FF2B5EF4-FFF2-40B4-BE49-F238E27FC236}">
                  <a16:creationId xmlns:a16="http://schemas.microsoft.com/office/drawing/2014/main" id="{B266DC23-A4F1-F040-396A-A311956140BA}"/>
                </a:ext>
              </a:extLst>
            </p:cNvPr>
            <p:cNvSpPr/>
            <p:nvPr/>
          </p:nvSpPr>
          <p:spPr>
            <a:xfrm>
              <a:off x="250854" y="2774909"/>
              <a:ext cx="995320" cy="3641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Rotate right with solid fill">
              <a:extLst>
                <a:ext uri="{FF2B5EF4-FFF2-40B4-BE49-F238E27FC236}">
                  <a16:creationId xmlns:a16="http://schemas.microsoft.com/office/drawing/2014/main" id="{81A23FB1-43C6-E41C-6B2D-70E34C242B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19524" y="1526222"/>
              <a:ext cx="914400" cy="91440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56125" y="119905"/>
            <a:ext cx="8520600" cy="572700"/>
          </a:xfrm>
          <a:prstGeom prst="rect">
            <a:avLst/>
          </a:prstGeom>
        </p:spPr>
        <p:txBody>
          <a:bodyPr spcFirstLastPara="1" wrap="square" lIns="91425" tIns="91425" rIns="91425" bIns="91425" anchor="t" anchorCtr="0">
            <a:normAutofit fontScale="90000"/>
          </a:bodyPr>
          <a:lstStyle/>
          <a:p>
            <a:pPr marL="457200" lvl="0" indent="-381000" algn="l" rtl="0">
              <a:lnSpc>
                <a:spcPct val="115000"/>
              </a:lnSpc>
              <a:spcBef>
                <a:spcPts val="0"/>
              </a:spcBef>
              <a:spcAft>
                <a:spcPts val="0"/>
              </a:spcAft>
              <a:buClr>
                <a:srgbClr val="980000"/>
              </a:buClr>
              <a:buSzPts val="2400"/>
              <a:buAutoNum type="arabicPeriod"/>
            </a:pPr>
            <a:r>
              <a:rPr lang="en-GB" sz="2400" b="1" dirty="0">
                <a:solidFill>
                  <a:srgbClr val="980000"/>
                </a:solidFill>
              </a:rPr>
              <a:t>Account login (C)</a:t>
            </a:r>
            <a:endParaRPr lang="en-US" altLang="en-US" sz="2400" b="1" dirty="0">
              <a:solidFill>
                <a:srgbClr val="980000"/>
              </a:solidFill>
            </a:endParaRPr>
          </a:p>
        </p:txBody>
      </p:sp>
      <p:sp>
        <p:nvSpPr>
          <p:cNvPr id="67" name="Google Shape;67;p15"/>
          <p:cNvSpPr txBox="1">
            <a:spLocks noGrp="1"/>
          </p:cNvSpPr>
          <p:nvPr>
            <p:ph type="body" idx="1"/>
          </p:nvPr>
        </p:nvSpPr>
        <p:spPr>
          <a:xfrm>
            <a:off x="156124" y="555425"/>
            <a:ext cx="8520600" cy="3278400"/>
          </a:xfrm>
          <a:prstGeom prst="rect">
            <a:avLst/>
          </a:prstGeom>
        </p:spPr>
        <p:txBody>
          <a:bodyPr spcFirstLastPara="1" wrap="square" lIns="91425" tIns="91425" rIns="91425" bIns="91425" anchor="t" anchorCtr="0">
            <a:normAutofit/>
          </a:bodyPr>
          <a:lstStyle/>
          <a:p>
            <a:pPr marL="558800" lvl="1" indent="0" algn="l" rtl="0">
              <a:spcBef>
                <a:spcPts val="0"/>
              </a:spcBef>
              <a:spcAft>
                <a:spcPts val="0"/>
              </a:spcAft>
              <a:buClr>
                <a:schemeClr val="dk1"/>
              </a:buClr>
              <a:buSzPts val="2000"/>
              <a:buNone/>
            </a:pPr>
            <a:r>
              <a:rPr lang="en-US" sz="2000" dirty="0">
                <a:solidFill>
                  <a:schemeClr val="dk1"/>
                </a:solidFill>
              </a:rPr>
              <a:t>b) After logging in, click on “Conferences” and then “IEEE UV2026” to access UV2026 Publication System</a:t>
            </a:r>
            <a:endParaRPr sz="2000" dirty="0"/>
          </a:p>
          <a:p>
            <a:pPr marL="0" lvl="0" indent="0" algn="l" rtl="0">
              <a:spcBef>
                <a:spcPts val="1200"/>
              </a:spcBef>
              <a:spcAft>
                <a:spcPts val="0"/>
              </a:spcAft>
              <a:buNone/>
            </a:pPr>
            <a:endParaRPr sz="2000" dirty="0"/>
          </a:p>
          <a:p>
            <a:pPr marL="0" lvl="0" indent="0" algn="l" rtl="0">
              <a:spcBef>
                <a:spcPts val="1200"/>
              </a:spcBef>
              <a:spcAft>
                <a:spcPts val="1200"/>
              </a:spcAft>
              <a:buNone/>
            </a:pPr>
            <a:endParaRPr sz="2000" dirty="0"/>
          </a:p>
        </p:txBody>
      </p:sp>
      <p:grpSp>
        <p:nvGrpSpPr>
          <p:cNvPr id="7" name="Group 6">
            <a:extLst>
              <a:ext uri="{FF2B5EF4-FFF2-40B4-BE49-F238E27FC236}">
                <a16:creationId xmlns:a16="http://schemas.microsoft.com/office/drawing/2014/main" id="{255F295C-6102-6298-206F-28756DF691B3}"/>
              </a:ext>
            </a:extLst>
          </p:cNvPr>
          <p:cNvGrpSpPr/>
          <p:nvPr/>
        </p:nvGrpSpPr>
        <p:grpSpPr>
          <a:xfrm>
            <a:off x="241299" y="1348277"/>
            <a:ext cx="8660766" cy="3437338"/>
            <a:chOff x="241299" y="1348277"/>
            <a:chExt cx="8660766" cy="3437338"/>
          </a:xfrm>
        </p:grpSpPr>
        <p:pic>
          <p:nvPicPr>
            <p:cNvPr id="5" name="Picture 4"/>
            <p:cNvPicPr>
              <a:picLocks noChangeAspect="1"/>
            </p:cNvPicPr>
            <p:nvPr/>
          </p:nvPicPr>
          <p:blipFill>
            <a:blip r:embed="rId3"/>
            <a:stretch>
              <a:fillRect/>
            </a:stretch>
          </p:blipFill>
          <p:spPr>
            <a:xfrm>
              <a:off x="241300" y="1705610"/>
              <a:ext cx="8660765" cy="2561590"/>
            </a:xfrm>
            <a:prstGeom prst="rect">
              <a:avLst/>
            </a:prstGeom>
            <a:ln w="28575">
              <a:solidFill>
                <a:schemeClr val="tx1"/>
              </a:solidFill>
            </a:ln>
          </p:spPr>
        </p:pic>
        <p:pic>
          <p:nvPicPr>
            <p:cNvPr id="3" name="Graphic 2" descr="Arrow: Rotate right with solid fill">
              <a:extLst>
                <a:ext uri="{FF2B5EF4-FFF2-40B4-BE49-F238E27FC236}">
                  <a16:creationId xmlns:a16="http://schemas.microsoft.com/office/drawing/2014/main" id="{39F080AF-0E52-E317-2F74-78703B4147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41299" y="1348277"/>
              <a:ext cx="751160" cy="714665"/>
            </a:xfrm>
            <a:prstGeom prst="rect">
              <a:avLst/>
            </a:prstGeom>
          </p:spPr>
        </p:pic>
        <p:pic>
          <p:nvPicPr>
            <p:cNvPr id="6" name="Graphic 5" descr="Arrow: Clockwise curve with solid fill">
              <a:extLst>
                <a:ext uri="{FF2B5EF4-FFF2-40B4-BE49-F238E27FC236}">
                  <a16:creationId xmlns:a16="http://schemas.microsoft.com/office/drawing/2014/main" id="{F492BFEE-F265-11FE-987C-CDBD30136EB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0761" y="4193379"/>
              <a:ext cx="592236" cy="59223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980000"/>
                </a:solidFill>
              </a:rPr>
              <a:t>2.  Assign papers to reviewers (A)</a:t>
            </a:r>
            <a:endParaRPr sz="2400" b="1" dirty="0">
              <a:solidFill>
                <a:srgbClr val="980000"/>
              </a:solidFill>
            </a:endParaRPr>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342900">
              <a:buFont typeface="Arial" panose="020B0604020202020204" pitchFamily="34" charset="0"/>
              <a:buChar char="•"/>
            </a:pPr>
            <a:r>
              <a:rPr lang="en-GB" sz="2000" dirty="0">
                <a:solidFill>
                  <a:schemeClr val="dk1"/>
                </a:solidFill>
              </a:rPr>
              <a:t>Please ask your reviewers to follow</a:t>
            </a:r>
            <a:r>
              <a:rPr lang="en-US" altLang="en-GB" sz="2000" dirty="0">
                <a:solidFill>
                  <a:schemeClr val="dk1"/>
                </a:solidFill>
              </a:rPr>
              <a:t> instructions from </a:t>
            </a:r>
            <a:r>
              <a:rPr lang="en-GB" sz="2000" dirty="0">
                <a:solidFill>
                  <a:schemeClr val="dk1"/>
                </a:solidFill>
                <a:sym typeface="+mn-ea"/>
                <a:hlinkClick r:id="rId3" action="ppaction://hlinkfile"/>
              </a:rPr>
              <a:t>IEEE UV2026 Paper Review Instructions on EasyChair</a:t>
            </a:r>
            <a:r>
              <a:rPr lang="en-GB" sz="2000" dirty="0">
                <a:solidFill>
                  <a:schemeClr val="dk1"/>
                </a:solidFill>
                <a:sym typeface="+mn-ea"/>
              </a:rPr>
              <a:t> </a:t>
            </a:r>
            <a:r>
              <a:rPr lang="en-GB" sz="2000" dirty="0">
                <a:solidFill>
                  <a:schemeClr val="dk1"/>
                </a:solidFill>
              </a:rPr>
              <a:t>to create an </a:t>
            </a:r>
            <a:r>
              <a:rPr lang="en-GB" sz="2000" dirty="0" err="1">
                <a:solidFill>
                  <a:schemeClr val="dk1"/>
                </a:solidFill>
              </a:rPr>
              <a:t>EasyChair</a:t>
            </a:r>
            <a:r>
              <a:rPr lang="en-GB" sz="2000" dirty="0">
                <a:solidFill>
                  <a:schemeClr val="dk1"/>
                </a:solidFill>
              </a:rPr>
              <a:t> account of their own</a:t>
            </a:r>
            <a:r>
              <a:rPr lang="en-US" altLang="en-GB" sz="2000" dirty="0">
                <a:solidFill>
                  <a:schemeClr val="dk1"/>
                </a:solidFill>
              </a:rPr>
              <a:t>.</a:t>
            </a:r>
          </a:p>
          <a:p>
            <a:pPr marL="342900">
              <a:buFont typeface="Arial" panose="020B0604020202020204" pitchFamily="34" charset="0"/>
              <a:buChar char="•"/>
            </a:pPr>
            <a:endParaRPr lang="en-US" altLang="en-GB" sz="2000" dirty="0">
              <a:solidFill>
                <a:schemeClr val="dk1"/>
              </a:solidFill>
            </a:endParaRPr>
          </a:p>
          <a:p>
            <a:pPr marL="342900">
              <a:buFont typeface="Arial" panose="020B0604020202020204" pitchFamily="34" charset="0"/>
              <a:buChar char="•"/>
            </a:pPr>
            <a:r>
              <a:rPr lang="en-US" sz="2000" dirty="0">
                <a:solidFill>
                  <a:schemeClr val="dk1"/>
                </a:solidFill>
              </a:rPr>
              <a:t>If your reviewers don’t have access to the </a:t>
            </a:r>
            <a:r>
              <a:rPr lang="en-US" sz="2000" dirty="0" err="1">
                <a:solidFill>
                  <a:schemeClr val="dk1"/>
                </a:solidFill>
              </a:rPr>
              <a:t>EasyChair</a:t>
            </a:r>
            <a:r>
              <a:rPr lang="en-US" sz="2000" dirty="0">
                <a:solidFill>
                  <a:schemeClr val="dk1"/>
                </a:solidFill>
              </a:rPr>
              <a:t> platform, please ask your session assistants to send an electronic copy of the paper and an offline review form to your reviewers. In this way, your reviewers will still be able to submit their comments through the form.</a:t>
            </a:r>
          </a:p>
          <a:p>
            <a:pPr marL="0" lvl="0" indent="0" algn="l" rtl="0">
              <a:spcBef>
                <a:spcPts val="1200"/>
              </a:spcBef>
              <a:spcAft>
                <a:spcPts val="12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60000"/>
            <a:ext cx="8520600" cy="572700"/>
          </a:xfrm>
          <a:prstGeom prst="rect">
            <a:avLst/>
          </a:prstGeom>
        </p:spPr>
        <p:txBody>
          <a:bodyPr spcFirstLastPara="1" wrap="square" lIns="91425" tIns="91425" rIns="91425" bIns="91425" anchor="t" anchorCtr="0">
            <a:normAutofit fontScale="90000"/>
          </a:bodyPr>
          <a:lstStyle/>
          <a:p>
            <a:pPr>
              <a:lnSpc>
                <a:spcPct val="115000"/>
              </a:lnSpc>
            </a:pPr>
            <a:r>
              <a:rPr lang="en-GB" sz="2650" b="1" dirty="0">
                <a:solidFill>
                  <a:srgbClr val="980000"/>
                </a:solidFill>
              </a:rPr>
              <a:t>2. </a:t>
            </a:r>
            <a:r>
              <a:rPr lang="en-GB" sz="2400" b="1" dirty="0">
                <a:solidFill>
                  <a:srgbClr val="980000"/>
                </a:solidFill>
              </a:rPr>
              <a:t>Assign papers to reviewers (B)</a:t>
            </a:r>
            <a:endParaRPr lang="en-US" sz="1800" b="1" dirty="0">
              <a:solidFill>
                <a:srgbClr val="FF0000"/>
              </a:solidFill>
            </a:endParaRPr>
          </a:p>
          <a:p>
            <a:pPr marL="109220" lvl="0" algn="l" rtl="0">
              <a:lnSpc>
                <a:spcPct val="115000"/>
              </a:lnSpc>
              <a:spcBef>
                <a:spcPts val="1200"/>
              </a:spcBef>
              <a:spcAft>
                <a:spcPts val="0"/>
              </a:spcAft>
              <a:buSzPct val="100000"/>
            </a:pPr>
            <a:r>
              <a:rPr lang="en-US" sz="2090" dirty="0">
                <a:solidFill>
                  <a:schemeClr val="dk2"/>
                </a:solidFill>
              </a:rPr>
              <a:t>After logging into </a:t>
            </a:r>
            <a:r>
              <a:rPr lang="en-US" sz="2090" dirty="0" err="1">
                <a:solidFill>
                  <a:schemeClr val="dk2"/>
                </a:solidFill>
              </a:rPr>
              <a:t>EasyChair</a:t>
            </a:r>
            <a:r>
              <a:rPr lang="en-US" sz="2090" dirty="0">
                <a:solidFill>
                  <a:schemeClr val="dk2"/>
                </a:solidFill>
              </a:rPr>
              <a:t> using your session chair account through </a:t>
            </a:r>
            <a:r>
              <a:rPr lang="en-US" sz="2090" u="sng" dirty="0">
                <a:solidFill>
                  <a:srgbClr val="1155CC"/>
                </a:solidFill>
                <a:hlinkClick r:id="rId3" action="ppaction://hlinkfile"/>
              </a:rPr>
              <a:t>Log in</a:t>
            </a:r>
            <a:endParaRPr lang="en-US" sz="2090" dirty="0">
              <a:solidFill>
                <a:schemeClr val="dk2"/>
              </a:solidFill>
            </a:endParaRPr>
          </a:p>
        </p:txBody>
      </p:sp>
      <p:sp>
        <p:nvSpPr>
          <p:cNvPr id="80" name="Google Shape;80;p17"/>
          <p:cNvSpPr txBox="1">
            <a:spLocks noGrp="1"/>
          </p:cNvSpPr>
          <p:nvPr>
            <p:ph type="body" idx="1"/>
          </p:nvPr>
        </p:nvSpPr>
        <p:spPr>
          <a:xfrm>
            <a:off x="311700" y="998075"/>
            <a:ext cx="8520600" cy="3416400"/>
          </a:xfrm>
          <a:prstGeom prst="rect">
            <a:avLst/>
          </a:prstGeom>
        </p:spPr>
        <p:txBody>
          <a:bodyPr spcFirstLastPara="1" wrap="square" lIns="91425" tIns="91425" rIns="91425" bIns="91425" anchor="t" anchorCtr="0">
            <a:normAutofit/>
          </a:bodyPr>
          <a:lstStyle/>
          <a:p>
            <a:pPr marL="914400" lvl="0" indent="0" algn="l" rtl="0">
              <a:spcBef>
                <a:spcPts val="0"/>
              </a:spcBef>
              <a:spcAft>
                <a:spcPts val="0"/>
              </a:spcAft>
              <a:buNone/>
            </a:pPr>
            <a:r>
              <a:rPr lang="en-GB" sz="1600" dirty="0">
                <a:solidFill>
                  <a:schemeClr val="dk1"/>
                </a:solidFill>
              </a:rPr>
              <a:t>You will see the interface below; Now click “</a:t>
            </a:r>
            <a:r>
              <a:rPr lang="en-GB" sz="1600" b="1" dirty="0">
                <a:solidFill>
                  <a:srgbClr val="1155CC"/>
                </a:solidFill>
              </a:rPr>
              <a:t>PC (Program Committee) member</a:t>
            </a:r>
            <a:r>
              <a:rPr lang="en-GB" sz="1600" dirty="0">
                <a:solidFill>
                  <a:schemeClr val="dk1"/>
                </a:solidFill>
              </a:rPr>
              <a:t>”</a:t>
            </a:r>
          </a:p>
          <a:p>
            <a:pPr marL="914400" lvl="0" indent="0" algn="l" rtl="0">
              <a:spcBef>
                <a:spcPts val="0"/>
              </a:spcBef>
              <a:spcAft>
                <a:spcPts val="0"/>
              </a:spcAft>
              <a:buNone/>
            </a:pPr>
            <a:r>
              <a:rPr lang="en-GB" sz="1600" dirty="0">
                <a:solidFill>
                  <a:srgbClr val="00B050"/>
                </a:solidFill>
              </a:rPr>
              <a:t>Please ensure that your display name matches </a:t>
            </a:r>
            <a:r>
              <a:rPr lang="en-GB" sz="1600">
                <a:solidFill>
                  <a:srgbClr val="00B050"/>
                </a:solidFill>
              </a:rPr>
              <a:t>the Session </a:t>
            </a:r>
            <a:r>
              <a:rPr lang="en-GB" sz="1600" dirty="0">
                <a:solidFill>
                  <a:srgbClr val="00B050"/>
                </a:solidFill>
              </a:rPr>
              <a:t>you are responsible for.</a:t>
            </a:r>
            <a:endParaRPr sz="1600" dirty="0">
              <a:solidFill>
                <a:srgbClr val="00B050"/>
              </a:solidFill>
            </a:endParaRPr>
          </a:p>
          <a:p>
            <a:pPr marL="0" lvl="0" indent="0" algn="l" rtl="0">
              <a:spcBef>
                <a:spcPts val="0"/>
              </a:spcBef>
              <a:spcAft>
                <a:spcPts val="1200"/>
              </a:spcAft>
              <a:buNone/>
            </a:pPr>
            <a:endParaRPr dirty="0"/>
          </a:p>
        </p:txBody>
      </p:sp>
      <p:grpSp>
        <p:nvGrpSpPr>
          <p:cNvPr id="10" name="Group 9">
            <a:extLst>
              <a:ext uri="{FF2B5EF4-FFF2-40B4-BE49-F238E27FC236}">
                <a16:creationId xmlns:a16="http://schemas.microsoft.com/office/drawing/2014/main" id="{69E05F90-74F1-0BE1-B057-1A68A8840A49}"/>
              </a:ext>
            </a:extLst>
          </p:cNvPr>
          <p:cNvGrpSpPr/>
          <p:nvPr/>
        </p:nvGrpSpPr>
        <p:grpSpPr>
          <a:xfrm>
            <a:off x="2179769" y="1985168"/>
            <a:ext cx="4512345" cy="3027514"/>
            <a:chOff x="2179769" y="1985168"/>
            <a:chExt cx="4512345" cy="3027514"/>
          </a:xfrm>
        </p:grpSpPr>
        <p:grpSp>
          <p:nvGrpSpPr>
            <p:cNvPr id="2" name="Group 1"/>
            <p:cNvGrpSpPr/>
            <p:nvPr/>
          </p:nvGrpSpPr>
          <p:grpSpPr>
            <a:xfrm>
              <a:off x="2179769" y="1985168"/>
              <a:ext cx="4512345" cy="3027514"/>
              <a:chOff x="2026020" y="1517209"/>
              <a:chExt cx="5091959" cy="3416400"/>
            </a:xfrm>
          </p:grpSpPr>
          <p:pic>
            <p:nvPicPr>
              <p:cNvPr id="3" name="Picture 2" descr="A screenshot of a computer&#10;&#10;Description automatically generated"/>
              <p:cNvPicPr>
                <a:picLocks noChangeAspect="1"/>
              </p:cNvPicPr>
              <p:nvPr/>
            </p:nvPicPr>
            <p:blipFill>
              <a:blip r:embed="rId4"/>
              <a:stretch>
                <a:fillRect/>
              </a:stretch>
            </p:blipFill>
            <p:spPr>
              <a:xfrm>
                <a:off x="2026020" y="1517209"/>
                <a:ext cx="5091959" cy="3416400"/>
              </a:xfrm>
              <a:prstGeom prst="rect">
                <a:avLst/>
              </a:prstGeom>
              <a:ln w="28575">
                <a:solidFill>
                  <a:schemeClr val="tx1"/>
                </a:solidFill>
              </a:ln>
            </p:spPr>
          </p:pic>
          <p:sp>
            <p:nvSpPr>
              <p:cNvPr id="4" name="Rectangle 3"/>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light curve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3782901" y="3942392"/>
                <a:ext cx="669855" cy="618930"/>
              </a:xfrm>
              <a:prstGeom prst="rect">
                <a:avLst/>
              </a:prstGeom>
            </p:spPr>
          </p:pic>
        </p:grpSp>
        <p:sp>
          <p:nvSpPr>
            <p:cNvPr id="5" name="Rectangle 4">
              <a:extLst>
                <a:ext uri="{FF2B5EF4-FFF2-40B4-BE49-F238E27FC236}">
                  <a16:creationId xmlns:a16="http://schemas.microsoft.com/office/drawing/2014/main" id="{0A6CD312-545D-5A46-B6ED-3F7C1074DAA7}"/>
                </a:ext>
              </a:extLst>
            </p:cNvPr>
            <p:cNvSpPr/>
            <p:nvPr/>
          </p:nvSpPr>
          <p:spPr>
            <a:xfrm>
              <a:off x="2327690" y="3109097"/>
              <a:ext cx="1857269" cy="3083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Rotate right with solid fill">
              <a:extLst>
                <a:ext uri="{FF2B5EF4-FFF2-40B4-BE49-F238E27FC236}">
                  <a16:creationId xmlns:a16="http://schemas.microsoft.com/office/drawing/2014/main" id="{41F44D22-D271-F7F6-7D05-DF8DB70C405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99124" y="2194697"/>
              <a:ext cx="914400" cy="91440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2144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GB" sz="2650" b="1" dirty="0">
                <a:solidFill>
                  <a:srgbClr val="980000"/>
                </a:solidFill>
              </a:rPr>
              <a:t>2. Assign papers to reviewers </a:t>
            </a:r>
            <a:r>
              <a:rPr lang="en-GB" sz="2800" b="1" dirty="0">
                <a:solidFill>
                  <a:srgbClr val="980000"/>
                </a:solidFill>
              </a:rPr>
              <a:t>(C)</a:t>
            </a:r>
            <a:endParaRPr sz="2650" dirty="0">
              <a:solidFill>
                <a:srgbClr val="FF0000"/>
              </a:solidFill>
            </a:endParaRPr>
          </a:p>
          <a:p>
            <a:pPr marL="0" lvl="0" indent="0" algn="l" rtl="0">
              <a:lnSpc>
                <a:spcPct val="115000"/>
              </a:lnSpc>
              <a:spcBef>
                <a:spcPts val="1200"/>
              </a:spcBef>
              <a:spcAft>
                <a:spcPts val="1200"/>
              </a:spcAft>
              <a:buNone/>
            </a:pPr>
            <a:r>
              <a:rPr lang="en-GB" sz="2220" dirty="0">
                <a:solidFill>
                  <a:schemeClr val="dk2"/>
                </a:solidFill>
              </a:rPr>
              <a:t>Access</a:t>
            </a:r>
            <a:r>
              <a:rPr lang="en-US" altLang="en-GB" sz="2220" dirty="0">
                <a:solidFill>
                  <a:schemeClr val="dk2"/>
                </a:solidFill>
              </a:rPr>
              <a:t> papers</a:t>
            </a:r>
            <a:r>
              <a:rPr lang="en-GB" sz="2220" dirty="0">
                <a:solidFill>
                  <a:schemeClr val="dk2"/>
                </a:solidFill>
              </a:rPr>
              <a:t> in your session</a:t>
            </a:r>
            <a:endParaRPr sz="2220" dirty="0">
              <a:solidFill>
                <a:schemeClr val="dk2"/>
              </a:solidFill>
            </a:endParaRPr>
          </a:p>
        </p:txBody>
      </p:sp>
      <p:sp>
        <p:nvSpPr>
          <p:cNvPr id="87" name="Google Shape;8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914400" lvl="0" indent="0">
              <a:buNone/>
            </a:pPr>
            <a:r>
              <a:rPr lang="en-GB" dirty="0">
                <a:solidFill>
                  <a:schemeClr val="dk1"/>
                </a:solidFill>
              </a:rPr>
              <a:t>Click </a:t>
            </a:r>
            <a:r>
              <a:rPr lang="en-GB" dirty="0"/>
              <a:t>papers </a:t>
            </a:r>
            <a:r>
              <a:rPr lang="en-GB" dirty="0">
                <a:solidFill>
                  <a:schemeClr val="dk1"/>
                </a:solidFill>
              </a:rPr>
              <a:t>“</a:t>
            </a:r>
            <a:r>
              <a:rPr lang="en-GB" b="1" dirty="0">
                <a:solidFill>
                  <a:srgbClr val="1155CC"/>
                </a:solidFill>
              </a:rPr>
              <a:t>Reviews</a:t>
            </a:r>
            <a:r>
              <a:rPr lang="en-GB" dirty="0">
                <a:solidFill>
                  <a:schemeClr val="dk1"/>
                </a:solidFill>
              </a:rPr>
              <a:t>” -&gt; “</a:t>
            </a:r>
            <a:r>
              <a:rPr lang="en-GB" b="1" dirty="0">
                <a:solidFill>
                  <a:srgbClr val="1155CC"/>
                </a:solidFill>
              </a:rPr>
              <a:t>Assigned to me</a:t>
            </a:r>
            <a:r>
              <a:rPr lang="en-GB" dirty="0">
                <a:solidFill>
                  <a:schemeClr val="dk1"/>
                </a:solidFill>
              </a:rPr>
              <a:t>”; Now, you will be able to </a:t>
            </a:r>
            <a:r>
              <a:rPr lang="en-GB" dirty="0">
                <a:solidFill>
                  <a:srgbClr val="FF0000"/>
                </a:solidFill>
              </a:rPr>
              <a:t>see</a:t>
            </a:r>
            <a:r>
              <a:rPr lang="en-GB" dirty="0">
                <a:solidFill>
                  <a:schemeClr val="dk1"/>
                </a:solidFill>
              </a:rPr>
              <a:t> all the papers in your session</a:t>
            </a:r>
            <a:endParaRPr sz="2500" dirty="0"/>
          </a:p>
        </p:txBody>
      </p:sp>
      <p:grpSp>
        <p:nvGrpSpPr>
          <p:cNvPr id="2" name="Group 1"/>
          <p:cNvGrpSpPr/>
          <p:nvPr/>
        </p:nvGrpSpPr>
        <p:grpSpPr>
          <a:xfrm>
            <a:off x="853089" y="2089125"/>
            <a:ext cx="7437822" cy="2742876"/>
            <a:chOff x="309457" y="1152475"/>
            <a:chExt cx="8522843" cy="3143004"/>
          </a:xfrm>
        </p:grpSpPr>
        <p:pic>
          <p:nvPicPr>
            <p:cNvPr id="5" name="Picture 4" descr="A screenshot of a computer&#10;&#10;Description automatically generated"/>
            <p:cNvPicPr>
              <a:picLocks noChangeAspect="1"/>
            </p:cNvPicPr>
            <p:nvPr/>
          </p:nvPicPr>
          <p:blipFill rotWithShape="1">
            <a:blip r:embed="rId3"/>
            <a:srcRect b="11365"/>
            <a:stretch>
              <a:fillRect/>
            </a:stretch>
          </p:blipFill>
          <p:spPr>
            <a:xfrm>
              <a:off x="309457" y="1152475"/>
              <a:ext cx="8522843" cy="3143004"/>
            </a:xfrm>
            <a:prstGeom prst="rect">
              <a:avLst/>
            </a:prstGeom>
            <a:ln w="28575">
              <a:solidFill>
                <a:schemeClr val="tx1"/>
              </a:solidFill>
            </a:ln>
          </p:spPr>
        </p:pic>
        <p:sp>
          <p:nvSpPr>
            <p:cNvPr id="7" name="Rectangle 6"/>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traight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3313" y="1778730"/>
              <a:ext cx="768743" cy="768743"/>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pSp>
        <p:nvGrpSpPr>
          <p:cNvPr id="5" name="Group 4"/>
          <p:cNvGrpSpPr/>
          <p:nvPr/>
        </p:nvGrpSpPr>
        <p:grpSpPr>
          <a:xfrm>
            <a:off x="565815" y="1434877"/>
            <a:ext cx="8266485" cy="3147918"/>
            <a:chOff x="565815" y="1598506"/>
            <a:chExt cx="8266485" cy="3147918"/>
          </a:xfrm>
        </p:grpSpPr>
        <p:pic>
          <p:nvPicPr>
            <p:cNvPr id="3" name="Picture 2" descr="A screenshot of a computer&#10;&#10;Description automatically generated"/>
            <p:cNvPicPr>
              <a:picLocks noChangeAspect="1"/>
            </p:cNvPicPr>
            <p:nvPr/>
          </p:nvPicPr>
          <p:blipFill>
            <a:blip r:embed="rId3"/>
            <a:stretch>
              <a:fillRect/>
            </a:stretch>
          </p:blipFill>
          <p:spPr>
            <a:xfrm>
              <a:off x="565815" y="1598506"/>
              <a:ext cx="8266485" cy="3147918"/>
            </a:xfrm>
            <a:prstGeom prst="rect">
              <a:avLst/>
            </a:prstGeom>
            <a:ln w="28575">
              <a:solidFill>
                <a:schemeClr val="bg2"/>
              </a:solidFill>
            </a:ln>
          </p:spPr>
        </p:pic>
        <p:sp>
          <p:nvSpPr>
            <p:cNvPr id="6" name="Rectangle 5"/>
            <p:cNvSpPr/>
            <p:nvPr/>
          </p:nvSpPr>
          <p:spPr>
            <a:xfrm>
              <a:off x="8336178" y="3466356"/>
              <a:ext cx="261257" cy="11957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Rotate right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1868" y="2790066"/>
              <a:ext cx="668620" cy="668620"/>
            </a:xfrm>
            <a:prstGeom prst="rect">
              <a:avLst/>
            </a:prstGeom>
          </p:spPr>
        </p:pic>
      </p:grpSp>
      <p:sp>
        <p:nvSpPr>
          <p:cNvPr id="93" name="Google Shape;93;p19"/>
          <p:cNvSpPr txBox="1">
            <a:spLocks noGrp="1"/>
          </p:cNvSpPr>
          <p:nvPr>
            <p:ph type="title"/>
          </p:nvPr>
        </p:nvSpPr>
        <p:spPr>
          <a:xfrm>
            <a:off x="311700" y="2144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GB" sz="2650" b="1" dirty="0">
                <a:solidFill>
                  <a:srgbClr val="980000"/>
                </a:solidFill>
              </a:rPr>
              <a:t>2. Assign papers to reviewers</a:t>
            </a:r>
            <a:r>
              <a:rPr lang="en-GB" sz="2800" b="1" dirty="0">
                <a:solidFill>
                  <a:srgbClr val="980000"/>
                </a:solidFill>
              </a:rPr>
              <a:t> (D)</a:t>
            </a:r>
            <a:r>
              <a:rPr lang="en-GB" sz="2650" b="1" dirty="0">
                <a:solidFill>
                  <a:srgbClr val="980000"/>
                </a:solidFill>
              </a:rPr>
              <a:t> </a:t>
            </a:r>
            <a:r>
              <a:rPr lang="en-GB" sz="2200" dirty="0">
                <a:solidFill>
                  <a:schemeClr val="dk2"/>
                </a:solidFill>
              </a:rPr>
              <a:t>      </a:t>
            </a:r>
            <a:endParaRPr sz="2200" dirty="0">
              <a:solidFill>
                <a:schemeClr val="dk2"/>
              </a:solidFill>
            </a:endParaRPr>
          </a:p>
        </p:txBody>
      </p:sp>
      <p:sp>
        <p:nvSpPr>
          <p:cNvPr id="94" name="Google Shape;94;p19"/>
          <p:cNvSpPr txBox="1">
            <a:spLocks noGrp="1"/>
          </p:cNvSpPr>
          <p:nvPr>
            <p:ph type="body" idx="1"/>
          </p:nvPr>
        </p:nvSpPr>
        <p:spPr>
          <a:xfrm>
            <a:off x="311700" y="802440"/>
            <a:ext cx="8520600" cy="3416400"/>
          </a:xfrm>
          <a:prstGeom prst="rect">
            <a:avLst/>
          </a:prstGeom>
        </p:spPr>
        <p:txBody>
          <a:bodyPr spcFirstLastPara="1" wrap="square" lIns="91425" tIns="91425" rIns="91425" bIns="91425" anchor="t" anchorCtr="0">
            <a:normAutofit/>
          </a:bodyPr>
          <a:lstStyle/>
          <a:p>
            <a:pPr marL="914400" lvl="0" indent="0" algn="l" rtl="0">
              <a:spcBef>
                <a:spcPts val="0"/>
              </a:spcBef>
              <a:spcAft>
                <a:spcPts val="0"/>
              </a:spcAft>
              <a:buNone/>
            </a:pPr>
            <a:r>
              <a:rPr lang="en-GB" sz="1100" dirty="0">
                <a:solidFill>
                  <a:schemeClr val="dk1"/>
                </a:solidFill>
              </a:rPr>
              <a:t> </a:t>
            </a:r>
            <a:r>
              <a:rPr lang="en-GB" dirty="0">
                <a:solidFill>
                  <a:schemeClr val="dk1"/>
                </a:solidFill>
              </a:rPr>
              <a:t>Click           to assign the paper to a new reviewer</a:t>
            </a:r>
            <a:endParaRPr dirty="0"/>
          </a:p>
        </p:txBody>
      </p:sp>
      <p:pic>
        <p:nvPicPr>
          <p:cNvPr id="96" name="Google Shape;96;p19"/>
          <p:cNvPicPr preferRelativeResize="0"/>
          <p:nvPr/>
        </p:nvPicPr>
        <p:blipFill>
          <a:blip r:embed="rId6"/>
          <a:stretch>
            <a:fillRect/>
          </a:stretch>
        </p:blipFill>
        <p:spPr>
          <a:xfrm>
            <a:off x="1991702" y="860106"/>
            <a:ext cx="381925" cy="381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GB" sz="2650" b="1" dirty="0">
                <a:solidFill>
                  <a:srgbClr val="980000"/>
                </a:solidFill>
              </a:rPr>
              <a:t>2. Assign papers to reviewers </a:t>
            </a:r>
            <a:r>
              <a:rPr lang="en-GB" sz="2800" b="1" dirty="0">
                <a:solidFill>
                  <a:srgbClr val="980000"/>
                </a:solidFill>
              </a:rPr>
              <a:t>(E) </a:t>
            </a:r>
            <a:br>
              <a:rPr lang="en-GB" sz="2650" b="1" dirty="0">
                <a:solidFill>
                  <a:srgbClr val="980000"/>
                </a:solidFill>
              </a:rPr>
            </a:br>
            <a:r>
              <a:rPr lang="en-US" sz="2200" dirty="0">
                <a:solidFill>
                  <a:schemeClr val="dk2"/>
                </a:solidFill>
              </a:rPr>
              <a:t>Assignment using </a:t>
            </a:r>
            <a:r>
              <a:rPr lang="en-US" sz="2200" dirty="0" err="1">
                <a:solidFill>
                  <a:schemeClr val="dk2"/>
                </a:solidFill>
              </a:rPr>
              <a:t>Easychair</a:t>
            </a:r>
            <a:endParaRPr lang="en-US" sz="2200" dirty="0">
              <a:solidFill>
                <a:schemeClr val="dk2"/>
              </a:solidFill>
            </a:endParaRPr>
          </a:p>
        </p:txBody>
      </p:sp>
      <p:sp>
        <p:nvSpPr>
          <p:cNvPr id="102" name="Google Shape;102;p20"/>
          <p:cNvSpPr txBox="1">
            <a:spLocks noGrp="1"/>
          </p:cNvSpPr>
          <p:nvPr>
            <p:ph type="body" idx="1"/>
          </p:nvPr>
        </p:nvSpPr>
        <p:spPr>
          <a:xfrm>
            <a:off x="113200" y="921125"/>
            <a:ext cx="2980200" cy="42225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Char char="❖"/>
            </a:pPr>
            <a:r>
              <a:rPr lang="en-GB" sz="1300">
                <a:solidFill>
                  <a:schemeClr val="dk1"/>
                </a:solidFill>
              </a:rPr>
              <a:t>Now, you will see the interface on the </a:t>
            </a:r>
            <a:r>
              <a:rPr lang="en-GB" sz="1300" b="1">
                <a:solidFill>
                  <a:schemeClr val="dk1"/>
                </a:solidFill>
                <a:highlight>
                  <a:srgbClr val="00FF00"/>
                </a:highlight>
              </a:rPr>
              <a:t>left</a:t>
            </a:r>
            <a:r>
              <a:rPr lang="en-GB" sz="1300">
                <a:solidFill>
                  <a:schemeClr val="dk1"/>
                </a:solidFill>
              </a:rPr>
              <a:t>; </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Please fill in your reviewer’s information; </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You can also personalize the subject and the content of the review request message that will be sent to your reviewers;</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After finalizing all the information, please click “Send Request” and you will be led to the interface on the </a:t>
            </a:r>
            <a:r>
              <a:rPr lang="en-GB" sz="1300" b="1">
                <a:solidFill>
                  <a:schemeClr val="dk1"/>
                </a:solidFill>
                <a:highlight>
                  <a:srgbClr val="00FF00"/>
                </a:highlight>
              </a:rPr>
              <a:t>right</a:t>
            </a:r>
            <a:r>
              <a:rPr lang="en-GB" sz="1300">
                <a:solidFill>
                  <a:schemeClr val="dk1"/>
                </a:solidFill>
              </a:rPr>
              <a:t>;</a:t>
            </a:r>
            <a:endParaRPr sz="1300">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Now, you can review the message to be sent out; You can click “Send Request” to send the review request message to your reviewer.</a:t>
            </a:r>
            <a:endParaRPr sz="1300">
              <a:solidFill>
                <a:schemeClr val="dk1"/>
              </a:solidFill>
            </a:endParaRPr>
          </a:p>
        </p:txBody>
      </p:sp>
      <p:pic>
        <p:nvPicPr>
          <p:cNvPr id="103" name="Google Shape;103;p20"/>
          <p:cNvPicPr preferRelativeResize="0"/>
          <p:nvPr/>
        </p:nvPicPr>
        <p:blipFill>
          <a:blip r:embed="rId3"/>
          <a:stretch>
            <a:fillRect/>
          </a:stretch>
        </p:blipFill>
        <p:spPr>
          <a:xfrm>
            <a:off x="2976150" y="2356100"/>
            <a:ext cx="2754351" cy="2700676"/>
          </a:xfrm>
          <a:prstGeom prst="rect">
            <a:avLst/>
          </a:prstGeom>
          <a:noFill/>
          <a:ln w="28575" cap="flat" cmpd="sng">
            <a:solidFill>
              <a:schemeClr val="tx1"/>
            </a:solidFill>
            <a:prstDash val="solid"/>
            <a:round/>
            <a:headEnd type="none" w="sm" len="sm"/>
            <a:tailEnd type="none" w="sm" len="sm"/>
          </a:ln>
        </p:spPr>
      </p:pic>
      <p:pic>
        <p:nvPicPr>
          <p:cNvPr id="104" name="Google Shape;104;p20"/>
          <p:cNvPicPr preferRelativeResize="0"/>
          <p:nvPr/>
        </p:nvPicPr>
        <p:blipFill>
          <a:blip r:embed="rId4"/>
          <a:stretch>
            <a:fillRect/>
          </a:stretch>
        </p:blipFill>
        <p:spPr>
          <a:xfrm>
            <a:off x="5831108" y="758500"/>
            <a:ext cx="3204465" cy="2935349"/>
          </a:xfrm>
          <a:prstGeom prst="rect">
            <a:avLst/>
          </a:prstGeom>
          <a:noFill/>
          <a:ln w="28575" cap="flat" cmpd="sng">
            <a:solidFill>
              <a:schemeClr val="tx1"/>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311700" y="2144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GB" sz="2870" b="1" dirty="0">
                <a:solidFill>
                  <a:srgbClr val="980000"/>
                </a:solidFill>
              </a:rPr>
              <a:t>2. </a:t>
            </a:r>
            <a:r>
              <a:rPr lang="en-GB" sz="2620" b="1" dirty="0">
                <a:solidFill>
                  <a:srgbClr val="980000"/>
                </a:solidFill>
              </a:rPr>
              <a:t>Assign papers to reviewers </a:t>
            </a:r>
            <a:r>
              <a:rPr lang="en-GB" sz="2800" b="1" dirty="0">
                <a:solidFill>
                  <a:srgbClr val="980000"/>
                </a:solidFill>
              </a:rPr>
              <a:t>(F)</a:t>
            </a:r>
            <a:r>
              <a:rPr lang="en-GB" sz="2620" b="1" dirty="0">
                <a:solidFill>
                  <a:srgbClr val="980000"/>
                </a:solidFill>
              </a:rPr>
              <a:t> </a:t>
            </a:r>
            <a:br>
              <a:rPr lang="en-GB" sz="2620" b="1" dirty="0">
                <a:solidFill>
                  <a:srgbClr val="980000"/>
                </a:solidFill>
              </a:rPr>
            </a:br>
            <a:r>
              <a:rPr lang="en-US" sz="2200" dirty="0">
                <a:solidFill>
                  <a:schemeClr val="dk2"/>
                </a:solidFill>
              </a:rPr>
              <a:t>You have now successfully sent a review request to your reviewer!</a:t>
            </a:r>
          </a:p>
        </p:txBody>
      </p:sp>
      <p:pic>
        <p:nvPicPr>
          <p:cNvPr id="110" name="Google Shape;110;p21"/>
          <p:cNvPicPr preferRelativeResize="0"/>
          <p:nvPr/>
        </p:nvPicPr>
        <p:blipFill>
          <a:blip r:embed="rId3"/>
          <a:stretch>
            <a:fillRect/>
          </a:stretch>
        </p:blipFill>
        <p:spPr>
          <a:xfrm>
            <a:off x="1485287" y="1454067"/>
            <a:ext cx="6173425" cy="3202016"/>
          </a:xfrm>
          <a:prstGeom prst="rect">
            <a:avLst/>
          </a:prstGeom>
          <a:noFill/>
          <a:ln w="28575" cap="flat" cmpd="sng">
            <a:solidFill>
              <a:schemeClr val="tx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155850" y="53375"/>
            <a:ext cx="8832300" cy="572700"/>
          </a:xfrm>
          <a:prstGeom prst="rect">
            <a:avLst/>
          </a:prstGeom>
          <a:ln>
            <a:noFill/>
          </a:ln>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(A) </a:t>
            </a:r>
            <a:endParaRPr sz="2650" b="1" dirty="0">
              <a:solidFill>
                <a:srgbClr val="FF0000"/>
              </a:solidFill>
            </a:endParaRPr>
          </a:p>
          <a:p>
            <a:pPr marL="0" lvl="0" indent="0" algn="l" rtl="0">
              <a:lnSpc>
                <a:spcPct val="115000"/>
              </a:lnSpc>
              <a:spcBef>
                <a:spcPts val="1200"/>
              </a:spcBef>
              <a:spcAft>
                <a:spcPts val="1200"/>
              </a:spcAft>
              <a:buNone/>
            </a:pPr>
            <a:r>
              <a:rPr lang="en-GB" sz="2200" dirty="0">
                <a:solidFill>
                  <a:schemeClr val="dk2"/>
                </a:solidFill>
              </a:rPr>
              <a:t>Use the account of your session chair to log into </a:t>
            </a:r>
            <a:r>
              <a:rPr lang="en-GB" sz="2200" dirty="0" err="1">
                <a:solidFill>
                  <a:schemeClr val="dk2"/>
                </a:solidFill>
              </a:rPr>
              <a:t>EasyChair</a:t>
            </a:r>
            <a:r>
              <a:rPr lang="en-GB" sz="2200" dirty="0">
                <a:solidFill>
                  <a:schemeClr val="dk2"/>
                </a:solidFill>
              </a:rPr>
              <a:t> through</a:t>
            </a:r>
            <a:r>
              <a:rPr lang="en-GB" sz="1400" dirty="0">
                <a:solidFill>
                  <a:schemeClr val="dk2"/>
                </a:solidFill>
              </a:rPr>
              <a:t> </a:t>
            </a:r>
            <a:r>
              <a:rPr lang="en-GB" sz="1875" u="sng" dirty="0">
                <a:solidFill>
                  <a:srgbClr val="1155CC"/>
                </a:solidFill>
                <a:hlinkClick r:id="rId3" action="ppaction://hlinkfile"/>
              </a:rPr>
              <a:t>Log in</a:t>
            </a:r>
            <a:r>
              <a:rPr lang="en-GB" sz="1400" dirty="0">
                <a:solidFill>
                  <a:schemeClr val="dk2"/>
                </a:solidFill>
              </a:rPr>
              <a:t> </a:t>
            </a:r>
            <a:endParaRPr sz="1800" dirty="0">
              <a:solidFill>
                <a:schemeClr val="dk2"/>
              </a:solidFill>
            </a:endParaRPr>
          </a:p>
        </p:txBody>
      </p:sp>
      <p:sp>
        <p:nvSpPr>
          <p:cNvPr id="116" name="Google Shape;116;p22"/>
          <p:cNvSpPr txBox="1">
            <a:spLocks noGrp="1"/>
          </p:cNvSpPr>
          <p:nvPr>
            <p:ph type="body" idx="1"/>
          </p:nvPr>
        </p:nvSpPr>
        <p:spPr>
          <a:xfrm>
            <a:off x="311700" y="1008985"/>
            <a:ext cx="8520600" cy="3851400"/>
          </a:xfrm>
          <a:prstGeom prst="rect">
            <a:avLst/>
          </a:prstGeom>
        </p:spPr>
        <p:txBody>
          <a:bodyPr spcFirstLastPara="1" wrap="square" lIns="91425" tIns="91425" rIns="91425" bIns="91425" anchor="t" anchorCtr="0">
            <a:normAutofit/>
          </a:bodyPr>
          <a:lstStyle/>
          <a:p>
            <a:pPr marL="457200" lvl="0" indent="0" algn="l" rtl="0">
              <a:spcBef>
                <a:spcPts val="0"/>
              </a:spcBef>
              <a:spcAft>
                <a:spcPts val="0"/>
              </a:spcAft>
              <a:buNone/>
            </a:pPr>
            <a:r>
              <a:rPr lang="en-GB" dirty="0">
                <a:solidFill>
                  <a:schemeClr val="dk1"/>
                </a:solidFill>
              </a:rPr>
              <a:t>After logging in, you will see the below interface; Now, click “</a:t>
            </a:r>
            <a:r>
              <a:rPr lang="en-GB" b="1" dirty="0">
                <a:solidFill>
                  <a:srgbClr val="1155CC"/>
                </a:solidFill>
              </a:rPr>
              <a:t>PC (program committee) member</a:t>
            </a:r>
            <a:r>
              <a:rPr lang="en-GB" dirty="0">
                <a:solidFill>
                  <a:schemeClr val="dk1"/>
                </a:solidFill>
              </a:rPr>
              <a:t>”</a:t>
            </a:r>
            <a:endParaRPr sz="2500" dirty="0"/>
          </a:p>
        </p:txBody>
      </p:sp>
      <p:grpSp>
        <p:nvGrpSpPr>
          <p:cNvPr id="2" name="Group 1"/>
          <p:cNvGrpSpPr/>
          <p:nvPr/>
        </p:nvGrpSpPr>
        <p:grpSpPr>
          <a:xfrm>
            <a:off x="2199508" y="1780399"/>
            <a:ext cx="4744984" cy="3183601"/>
            <a:chOff x="2026020" y="1517209"/>
            <a:chExt cx="5091959" cy="3416400"/>
          </a:xfrm>
        </p:grpSpPr>
        <p:pic>
          <p:nvPicPr>
            <p:cNvPr id="3" name="Picture 2" descr="A screenshot of a computer&#10;&#10;Description automatically generated"/>
            <p:cNvPicPr>
              <a:picLocks noChangeAspect="1"/>
            </p:cNvPicPr>
            <p:nvPr/>
          </p:nvPicPr>
          <p:blipFill>
            <a:blip r:embed="rId4"/>
            <a:stretch>
              <a:fillRect/>
            </a:stretch>
          </p:blipFill>
          <p:spPr>
            <a:xfrm>
              <a:off x="2026020" y="1517209"/>
              <a:ext cx="5091959" cy="3416400"/>
            </a:xfrm>
            <a:prstGeom prst="rect">
              <a:avLst/>
            </a:prstGeom>
            <a:ln w="28575">
              <a:solidFill>
                <a:schemeClr val="tx1"/>
              </a:solidFill>
            </a:ln>
          </p:spPr>
        </p:pic>
        <p:sp>
          <p:nvSpPr>
            <p:cNvPr id="7" name="Rectangle 6"/>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rrow: Slight curve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3782901" y="3942392"/>
              <a:ext cx="669855" cy="61893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159300" y="294625"/>
            <a:ext cx="88323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(B) </a:t>
            </a:r>
            <a:endParaRPr sz="2650" b="1" dirty="0">
              <a:solidFill>
                <a:srgbClr val="FF0000"/>
              </a:solidFill>
            </a:endParaRPr>
          </a:p>
          <a:p>
            <a:pPr marL="0" lvl="0" indent="0" algn="l" rtl="0">
              <a:lnSpc>
                <a:spcPct val="115000"/>
              </a:lnSpc>
              <a:spcBef>
                <a:spcPts val="1200"/>
              </a:spcBef>
              <a:spcAft>
                <a:spcPts val="1200"/>
              </a:spcAft>
              <a:buNone/>
            </a:pPr>
            <a:r>
              <a:rPr lang="en-GB" sz="2200" dirty="0">
                <a:solidFill>
                  <a:schemeClr val="dk2"/>
                </a:solidFill>
              </a:rPr>
              <a:t>     Access reviews</a:t>
            </a:r>
            <a:endParaRPr sz="2200" dirty="0">
              <a:solidFill>
                <a:schemeClr val="dk2"/>
              </a:solidFill>
            </a:endParaRPr>
          </a:p>
        </p:txBody>
      </p:sp>
      <p:sp>
        <p:nvSpPr>
          <p:cNvPr id="123" name="Google Shape;123;p23"/>
          <p:cNvSpPr txBox="1">
            <a:spLocks noGrp="1"/>
          </p:cNvSpPr>
          <p:nvPr>
            <p:ph type="body" idx="1"/>
          </p:nvPr>
        </p:nvSpPr>
        <p:spPr>
          <a:xfrm>
            <a:off x="311700" y="1323311"/>
            <a:ext cx="8520600" cy="1912200"/>
          </a:xfrm>
          <a:prstGeom prst="rect">
            <a:avLst/>
          </a:prstGeom>
        </p:spPr>
        <p:txBody>
          <a:bodyPr spcFirstLastPara="1" wrap="square" lIns="91425" tIns="91425" rIns="91425" bIns="91425" anchor="t" anchorCtr="0">
            <a:normAutofit/>
          </a:bodyPr>
          <a:lstStyle/>
          <a:p>
            <a:pPr marL="457200" lvl="0" indent="457200" algn="l" rtl="0">
              <a:spcBef>
                <a:spcPts val="0"/>
              </a:spcBef>
              <a:spcAft>
                <a:spcPts val="0"/>
              </a:spcAft>
              <a:buClr>
                <a:schemeClr val="dk1"/>
              </a:buClr>
              <a:buSzPts val="1100"/>
              <a:buFont typeface="Arial" panose="020B0604020202020204"/>
              <a:buNone/>
            </a:pPr>
            <a:r>
              <a:rPr lang="en-GB" dirty="0">
                <a:solidFill>
                  <a:schemeClr val="dk1"/>
                </a:solidFill>
              </a:rPr>
              <a:t>Now, Click Reviews -&gt; </a:t>
            </a:r>
            <a:r>
              <a:rPr lang="en-GB" b="1" dirty="0">
                <a:solidFill>
                  <a:srgbClr val="1155CC"/>
                </a:solidFill>
              </a:rPr>
              <a:t>Assigned to me</a:t>
            </a:r>
            <a:endParaRPr sz="2500" b="1" dirty="0">
              <a:solidFill>
                <a:srgbClr val="1155CC"/>
              </a:solidFill>
            </a:endParaRPr>
          </a:p>
        </p:txBody>
      </p:sp>
      <p:grpSp>
        <p:nvGrpSpPr>
          <p:cNvPr id="2" name="Group 1"/>
          <p:cNvGrpSpPr/>
          <p:nvPr/>
        </p:nvGrpSpPr>
        <p:grpSpPr>
          <a:xfrm>
            <a:off x="853089" y="1864073"/>
            <a:ext cx="7437822" cy="2742876"/>
            <a:chOff x="309457" y="1152475"/>
            <a:chExt cx="8522843" cy="3143004"/>
          </a:xfrm>
        </p:grpSpPr>
        <p:pic>
          <p:nvPicPr>
            <p:cNvPr id="6" name="Picture 5" descr="A screenshot of a computer&#10;&#10;Description automatically generated"/>
            <p:cNvPicPr>
              <a:picLocks noChangeAspect="1"/>
            </p:cNvPicPr>
            <p:nvPr/>
          </p:nvPicPr>
          <p:blipFill rotWithShape="1">
            <a:blip r:embed="rId3"/>
            <a:srcRect b="11365"/>
            <a:stretch>
              <a:fillRect/>
            </a:stretch>
          </p:blipFill>
          <p:spPr>
            <a:xfrm>
              <a:off x="309457" y="1152475"/>
              <a:ext cx="8522843" cy="3143004"/>
            </a:xfrm>
            <a:prstGeom prst="rect">
              <a:avLst/>
            </a:prstGeom>
            <a:ln w="28575">
              <a:solidFill>
                <a:schemeClr val="tx1"/>
              </a:solidFill>
            </a:ln>
          </p:spPr>
        </p:pic>
        <p:sp>
          <p:nvSpPr>
            <p:cNvPr id="8" name="Rectangle 7"/>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traight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3313" y="1778730"/>
              <a:ext cx="768743" cy="768743"/>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6" name="Group 5"/>
          <p:cNvGrpSpPr/>
          <p:nvPr/>
        </p:nvGrpSpPr>
        <p:grpSpPr>
          <a:xfrm>
            <a:off x="685800" y="1621005"/>
            <a:ext cx="7772400" cy="3455152"/>
            <a:chOff x="685800" y="1621005"/>
            <a:chExt cx="7772400" cy="3455152"/>
          </a:xfrm>
        </p:grpSpPr>
        <p:pic>
          <p:nvPicPr>
            <p:cNvPr id="3" name="Picture 2" descr="A screenshot of a computer&#10;&#10;Description automatically generated"/>
            <p:cNvPicPr>
              <a:picLocks noChangeAspect="1"/>
            </p:cNvPicPr>
            <p:nvPr/>
          </p:nvPicPr>
          <p:blipFill>
            <a:blip r:embed="rId3"/>
            <a:stretch>
              <a:fillRect/>
            </a:stretch>
          </p:blipFill>
          <p:spPr>
            <a:xfrm>
              <a:off x="685800" y="1621005"/>
              <a:ext cx="7772400" cy="2959768"/>
            </a:xfrm>
            <a:prstGeom prst="rect">
              <a:avLst/>
            </a:prstGeom>
            <a:ln w="28575">
              <a:solidFill>
                <a:schemeClr val="bg2"/>
              </a:solidFill>
            </a:ln>
          </p:spPr>
        </p:pic>
        <p:sp>
          <p:nvSpPr>
            <p:cNvPr id="4" name="Rectangle 3"/>
            <p:cNvSpPr/>
            <p:nvPr/>
          </p:nvSpPr>
          <p:spPr>
            <a:xfrm>
              <a:off x="6040392" y="4239661"/>
              <a:ext cx="268357" cy="2087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Clockwise curve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24778" y="4484779"/>
              <a:ext cx="591378" cy="591378"/>
            </a:xfrm>
            <a:prstGeom prst="rect">
              <a:avLst/>
            </a:prstGeom>
          </p:spPr>
        </p:pic>
      </p:grpSp>
      <p:sp>
        <p:nvSpPr>
          <p:cNvPr id="129" name="Google Shape;129;p24"/>
          <p:cNvSpPr txBox="1">
            <a:spLocks noGrp="1"/>
          </p:cNvSpPr>
          <p:nvPr>
            <p:ph type="title"/>
          </p:nvPr>
        </p:nvSpPr>
        <p:spPr>
          <a:xfrm>
            <a:off x="160875" y="294625"/>
            <a:ext cx="88935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(C) </a:t>
            </a:r>
            <a:endParaRPr sz="1800" dirty="0">
              <a:solidFill>
                <a:srgbClr val="FF0000"/>
              </a:solidFill>
            </a:endParaRPr>
          </a:p>
          <a:p>
            <a:pPr marL="0" lvl="0" indent="457200" algn="l" rtl="0">
              <a:lnSpc>
                <a:spcPct val="115000"/>
              </a:lnSpc>
              <a:spcBef>
                <a:spcPts val="1200"/>
              </a:spcBef>
              <a:spcAft>
                <a:spcPts val="1200"/>
              </a:spcAft>
              <a:buNone/>
            </a:pPr>
            <a:r>
              <a:rPr lang="en-GB" sz="2150" dirty="0">
                <a:solidFill>
                  <a:schemeClr val="dk2"/>
                </a:solidFill>
              </a:rPr>
              <a:t>Find your assigned papers and click             to download papers</a:t>
            </a:r>
            <a:endParaRPr sz="2150" dirty="0">
              <a:solidFill>
                <a:schemeClr val="dk2"/>
              </a:solidFill>
            </a:endParaRPr>
          </a:p>
        </p:txBody>
      </p:sp>
      <p:pic>
        <p:nvPicPr>
          <p:cNvPr id="131" name="Google Shape;131;p24"/>
          <p:cNvPicPr preferRelativeResize="0"/>
          <p:nvPr/>
        </p:nvPicPr>
        <p:blipFill>
          <a:blip r:embed="rId6"/>
          <a:stretch>
            <a:fillRect/>
          </a:stretch>
        </p:blipFill>
        <p:spPr>
          <a:xfrm>
            <a:off x="4723916" y="908484"/>
            <a:ext cx="552450" cy="419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grpSp>
        <p:nvGrpSpPr>
          <p:cNvPr id="5" name="Group 4"/>
          <p:cNvGrpSpPr/>
          <p:nvPr/>
        </p:nvGrpSpPr>
        <p:grpSpPr>
          <a:xfrm>
            <a:off x="685800" y="1621005"/>
            <a:ext cx="7772400" cy="3438820"/>
            <a:chOff x="685800" y="1621005"/>
            <a:chExt cx="7772400" cy="3438820"/>
          </a:xfrm>
        </p:grpSpPr>
        <p:pic>
          <p:nvPicPr>
            <p:cNvPr id="3" name="Picture 2" descr="A screenshot of a computer&#10;&#10;Description automatically generated"/>
            <p:cNvPicPr>
              <a:picLocks noChangeAspect="1"/>
            </p:cNvPicPr>
            <p:nvPr/>
          </p:nvPicPr>
          <p:blipFill>
            <a:blip r:embed="rId3"/>
            <a:stretch>
              <a:fillRect/>
            </a:stretch>
          </p:blipFill>
          <p:spPr>
            <a:xfrm>
              <a:off x="685800" y="1621005"/>
              <a:ext cx="7772400" cy="2959768"/>
            </a:xfrm>
            <a:prstGeom prst="rect">
              <a:avLst/>
            </a:prstGeom>
            <a:ln w="28575">
              <a:solidFill>
                <a:schemeClr val="bg2"/>
              </a:solidFill>
            </a:ln>
          </p:spPr>
        </p:pic>
        <p:sp>
          <p:nvSpPr>
            <p:cNvPr id="6" name="Rectangle 5"/>
            <p:cNvSpPr/>
            <p:nvPr/>
          </p:nvSpPr>
          <p:spPr>
            <a:xfrm>
              <a:off x="7815653" y="4223329"/>
              <a:ext cx="196459" cy="2087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Arrow: Clockwise curve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8141" y="4468447"/>
              <a:ext cx="591378" cy="591378"/>
            </a:xfrm>
            <a:prstGeom prst="rect">
              <a:avLst/>
            </a:prstGeom>
          </p:spPr>
        </p:pic>
      </p:grpSp>
      <p:sp>
        <p:nvSpPr>
          <p:cNvPr id="136" name="Google Shape;136;p25"/>
          <p:cNvSpPr txBox="1">
            <a:spLocks noGrp="1"/>
          </p:cNvSpPr>
          <p:nvPr>
            <p:ph type="title"/>
          </p:nvPr>
        </p:nvSpPr>
        <p:spPr>
          <a:xfrm>
            <a:off x="235500" y="294625"/>
            <a:ext cx="88323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(D) </a:t>
            </a:r>
            <a:endParaRPr sz="2400" b="1" dirty="0">
              <a:solidFill>
                <a:schemeClr val="accent4">
                  <a:lumMod val="75000"/>
                </a:schemeClr>
              </a:solidFill>
            </a:endParaRPr>
          </a:p>
          <a:p>
            <a:pPr marL="0" lvl="0" indent="457200" algn="l" rtl="0">
              <a:lnSpc>
                <a:spcPct val="115000"/>
              </a:lnSpc>
              <a:spcBef>
                <a:spcPts val="1200"/>
              </a:spcBef>
              <a:spcAft>
                <a:spcPts val="1200"/>
              </a:spcAft>
              <a:buNone/>
            </a:pPr>
            <a:r>
              <a:rPr lang="en-GB" sz="2000" dirty="0">
                <a:solidFill>
                  <a:schemeClr val="dk2"/>
                </a:solidFill>
              </a:rPr>
              <a:t>Click             to start to review papers </a:t>
            </a:r>
            <a:endParaRPr sz="2000" dirty="0">
              <a:solidFill>
                <a:schemeClr val="dk2"/>
              </a:solidFill>
            </a:endParaRPr>
          </a:p>
        </p:txBody>
      </p:sp>
      <p:pic>
        <p:nvPicPr>
          <p:cNvPr id="138" name="Google Shape;138;p25"/>
          <p:cNvPicPr preferRelativeResize="0"/>
          <p:nvPr/>
        </p:nvPicPr>
        <p:blipFill>
          <a:blip r:embed="rId6"/>
          <a:stretch>
            <a:fillRect/>
          </a:stretch>
        </p:blipFill>
        <p:spPr>
          <a:xfrm>
            <a:off x="1465743" y="873281"/>
            <a:ext cx="476250" cy="419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5" name="Picture 4" descr="A screenshot of a computer&#10;&#10;Description automatically generated"/>
          <p:cNvPicPr>
            <a:picLocks noChangeAspect="1"/>
          </p:cNvPicPr>
          <p:nvPr/>
        </p:nvPicPr>
        <p:blipFill>
          <a:blip r:embed="rId3"/>
          <a:stretch>
            <a:fillRect/>
          </a:stretch>
        </p:blipFill>
        <p:spPr>
          <a:xfrm>
            <a:off x="1109110" y="1647438"/>
            <a:ext cx="7237479" cy="3349643"/>
          </a:xfrm>
          <a:prstGeom prst="rect">
            <a:avLst/>
          </a:prstGeom>
          <a:ln w="28575">
            <a:solidFill>
              <a:schemeClr val="tx1"/>
            </a:solidFill>
          </a:ln>
        </p:spPr>
      </p:pic>
      <p:sp>
        <p:nvSpPr>
          <p:cNvPr id="143" name="Google Shape;143;p26"/>
          <p:cNvSpPr txBox="1">
            <a:spLocks noGrp="1"/>
          </p:cNvSpPr>
          <p:nvPr>
            <p:ph type="title"/>
          </p:nvPr>
        </p:nvSpPr>
        <p:spPr>
          <a:xfrm>
            <a:off x="311700" y="294625"/>
            <a:ext cx="88323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(E) </a:t>
            </a:r>
            <a:endParaRPr sz="2400" dirty="0">
              <a:solidFill>
                <a:schemeClr val="dk2"/>
              </a:solidFill>
            </a:endParaRPr>
          </a:p>
          <a:p>
            <a:pPr marL="0" lvl="0" indent="457200" algn="l" rtl="0">
              <a:lnSpc>
                <a:spcPct val="115000"/>
              </a:lnSpc>
              <a:spcBef>
                <a:spcPts val="1200"/>
              </a:spcBef>
              <a:spcAft>
                <a:spcPts val="1200"/>
              </a:spcAft>
              <a:buNone/>
            </a:pPr>
            <a:r>
              <a:rPr lang="en-GB" sz="2000" dirty="0">
                <a:solidFill>
                  <a:schemeClr val="dk2"/>
                </a:solidFill>
              </a:rPr>
              <a:t>Now, you will see the following interface</a:t>
            </a:r>
            <a:endParaRPr sz="2000" dirty="0">
              <a:solidFill>
                <a:schemeClr val="dk2"/>
              </a:solidFill>
            </a:endParaRPr>
          </a:p>
        </p:txBody>
      </p:sp>
      <p:sp>
        <p:nvSpPr>
          <p:cNvPr id="144" name="Google Shape;144;p26"/>
          <p:cNvSpPr txBox="1">
            <a:spLocks noGrp="1"/>
          </p:cNvSpPr>
          <p:nvPr>
            <p:ph type="body" idx="1"/>
          </p:nvPr>
        </p:nvSpPr>
        <p:spPr>
          <a:xfrm>
            <a:off x="118700" y="1212600"/>
            <a:ext cx="8520600" cy="3930900"/>
          </a:xfrm>
          <a:prstGeom prst="rect">
            <a:avLst/>
          </a:prstGeom>
        </p:spPr>
        <p:txBody>
          <a:bodyPr spcFirstLastPara="1" wrap="square" lIns="91425" tIns="91425" rIns="91425" bIns="91425" anchor="t" anchorCtr="0">
            <a:normAutofit/>
          </a:bodyPr>
          <a:lstStyle/>
          <a:p>
            <a:pPr marL="457200" lvl="0" indent="457200" algn="l" rtl="0">
              <a:spcBef>
                <a:spcPts val="0"/>
              </a:spcBef>
              <a:spcAft>
                <a:spcPts val="0"/>
              </a:spcAft>
              <a:buClr>
                <a:schemeClr val="dk1"/>
              </a:buClr>
              <a:buSzPts val="1100"/>
              <a:buFont typeface="Arial" panose="020B0604020202020204"/>
              <a:buNone/>
            </a:pPr>
            <a:r>
              <a:rPr lang="en-GB" dirty="0">
                <a:solidFill>
                  <a:schemeClr val="dk1"/>
                </a:solidFill>
              </a:rPr>
              <a:t>Please go ahead and fill in your information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xfrm>
            <a:off x="311700" y="294625"/>
            <a:ext cx="87765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980000"/>
                </a:solidFill>
              </a:rPr>
              <a:t>3. Paper review process (F) </a:t>
            </a:r>
            <a:br>
              <a:rPr lang="en-GB" sz="2400" b="1" dirty="0">
                <a:solidFill>
                  <a:srgbClr val="980000"/>
                </a:solidFill>
              </a:rPr>
            </a:br>
            <a:r>
              <a:rPr lang="en-US" altLang="en-GB" sz="2200" dirty="0">
                <a:solidFill>
                  <a:schemeClr val="dk2"/>
                </a:solidFill>
              </a:rPr>
              <a:t>Evaluate</a:t>
            </a:r>
            <a:r>
              <a:rPr lang="en-GB" sz="2200" dirty="0">
                <a:solidFill>
                  <a:schemeClr val="dk2"/>
                </a:solidFill>
              </a:rPr>
              <a:t> the paper and </a:t>
            </a:r>
            <a:r>
              <a:rPr lang="en-US" altLang="en-GB" sz="2200" dirty="0">
                <a:solidFill>
                  <a:schemeClr val="dk2"/>
                </a:solidFill>
              </a:rPr>
              <a:t>Provide</a:t>
            </a:r>
            <a:r>
              <a:rPr lang="en-GB" sz="2200" dirty="0">
                <a:solidFill>
                  <a:schemeClr val="dk2"/>
                </a:solidFill>
              </a:rPr>
              <a:t> comments </a:t>
            </a:r>
            <a:endParaRPr sz="2200" dirty="0">
              <a:solidFill>
                <a:schemeClr val="dk2"/>
              </a:solidFill>
            </a:endParaRPr>
          </a:p>
        </p:txBody>
      </p:sp>
      <p:sp>
        <p:nvSpPr>
          <p:cNvPr id="151" name="Google Shape;151;p27"/>
          <p:cNvSpPr txBox="1">
            <a:spLocks noGrp="1"/>
          </p:cNvSpPr>
          <p:nvPr>
            <p:ph type="body" idx="1"/>
          </p:nvPr>
        </p:nvSpPr>
        <p:spPr>
          <a:xfrm>
            <a:off x="311700" y="1448650"/>
            <a:ext cx="3657000" cy="393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solidFill>
                  <a:schemeClr val="dk1"/>
                </a:solidFill>
              </a:rPr>
              <a:t>After submitting your information, you will be able to start to </a:t>
            </a:r>
            <a:r>
              <a:rPr lang="en-US" altLang="en-GB" dirty="0">
                <a:solidFill>
                  <a:schemeClr val="dk1"/>
                </a:solidFill>
              </a:rPr>
              <a:t>evaluate</a:t>
            </a:r>
            <a:r>
              <a:rPr lang="en-GB" dirty="0">
                <a:solidFill>
                  <a:schemeClr val="dk1"/>
                </a:solidFill>
              </a:rPr>
              <a:t> the paper and </a:t>
            </a:r>
            <a:r>
              <a:rPr lang="en-US" altLang="en-GB" dirty="0">
                <a:solidFill>
                  <a:schemeClr val="dk1"/>
                </a:solidFill>
              </a:rPr>
              <a:t>provide comments</a:t>
            </a:r>
            <a:r>
              <a:rPr lang="en-GB" dirty="0">
                <a:solidFill>
                  <a:schemeClr val="dk1"/>
                </a:solidFill>
              </a:rPr>
              <a:t> </a:t>
            </a:r>
            <a:r>
              <a:rPr lang="en-US" altLang="en-US" dirty="0">
                <a:solidFill>
                  <a:schemeClr val="dk1"/>
                </a:solidFill>
              </a:rPr>
              <a:t>according to the provided prompt</a:t>
            </a:r>
            <a:r>
              <a:rPr lang="en-GB" dirty="0">
                <a:solidFill>
                  <a:schemeClr val="dk1"/>
                </a:solidFill>
              </a:rPr>
              <a: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GB" dirty="0">
                <a:solidFill>
                  <a:schemeClr val="dk1"/>
                </a:solidFill>
              </a:rPr>
              <a:t>After finishing reviewing the papers, you can click                   to submit the review</a:t>
            </a:r>
            <a:endParaRPr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pic>
        <p:nvPicPr>
          <p:cNvPr id="152" name="Google Shape;152;p27"/>
          <p:cNvPicPr preferRelativeResize="0"/>
          <p:nvPr/>
        </p:nvPicPr>
        <p:blipFill>
          <a:blip r:embed="rId3"/>
          <a:stretch>
            <a:fillRect/>
          </a:stretch>
        </p:blipFill>
        <p:spPr>
          <a:xfrm>
            <a:off x="2603330" y="3830775"/>
            <a:ext cx="1365325" cy="172825"/>
          </a:xfrm>
          <a:prstGeom prst="rect">
            <a:avLst/>
          </a:prstGeom>
          <a:noFill/>
          <a:ln>
            <a:noFill/>
          </a:ln>
        </p:spPr>
      </p:pic>
      <p:pic>
        <p:nvPicPr>
          <p:cNvPr id="153" name="Google Shape;153;p27"/>
          <p:cNvPicPr preferRelativeResize="0"/>
          <p:nvPr/>
        </p:nvPicPr>
        <p:blipFill>
          <a:blip r:embed="rId4"/>
          <a:stretch>
            <a:fillRect/>
          </a:stretch>
        </p:blipFill>
        <p:spPr>
          <a:xfrm>
            <a:off x="5334350" y="867325"/>
            <a:ext cx="3656999" cy="4038042"/>
          </a:xfrm>
          <a:prstGeom prst="rect">
            <a:avLst/>
          </a:prstGeom>
          <a:noFill/>
          <a:ln w="28575" cap="flat" cmpd="sng">
            <a:solidFill>
              <a:schemeClr val="tx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60" name="Google Shape;160;p28"/>
          <p:cNvPicPr preferRelativeResize="0"/>
          <p:nvPr/>
        </p:nvPicPr>
        <p:blipFill>
          <a:blip r:embed="rId3"/>
          <a:stretch>
            <a:fillRect/>
          </a:stretch>
        </p:blipFill>
        <p:spPr>
          <a:xfrm>
            <a:off x="1994946" y="1622965"/>
            <a:ext cx="4569874" cy="3244749"/>
          </a:xfrm>
          <a:prstGeom prst="rect">
            <a:avLst/>
          </a:prstGeom>
          <a:noFill/>
          <a:ln w="28575" cap="flat" cmpd="sng">
            <a:solidFill>
              <a:schemeClr val="tx1"/>
            </a:solidFill>
            <a:prstDash val="solid"/>
            <a:round/>
            <a:headEnd type="none" w="sm" len="sm"/>
            <a:tailEnd type="none" w="sm" len="sm"/>
          </a:ln>
        </p:spPr>
      </p:pic>
      <p:sp>
        <p:nvSpPr>
          <p:cNvPr id="158" name="Google Shape;15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980000"/>
                </a:solidFill>
              </a:rPr>
              <a:t>4. Check the review results (A)</a:t>
            </a:r>
            <a:endParaRPr sz="2400" b="1" dirty="0">
              <a:solidFill>
                <a:srgbClr val="980000"/>
              </a:solidFill>
            </a:endParaRPr>
          </a:p>
        </p:txBody>
      </p:sp>
      <p:sp>
        <p:nvSpPr>
          <p:cNvPr id="159" name="Google Shape;159;p28"/>
          <p:cNvSpPr txBox="1">
            <a:spLocks noGrp="1"/>
          </p:cNvSpPr>
          <p:nvPr>
            <p:ph type="body" idx="1"/>
          </p:nvPr>
        </p:nvSpPr>
        <p:spPr>
          <a:xfrm>
            <a:off x="311700" y="96329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Log in </a:t>
            </a:r>
            <a:r>
              <a:rPr lang="en-GB" dirty="0" err="1"/>
              <a:t>EasyChair</a:t>
            </a:r>
            <a:r>
              <a:rPr lang="en-GB" dirty="0"/>
              <a:t> with your session chair account </a:t>
            </a:r>
            <a:r>
              <a:rPr lang="en-GB" sz="2000" u="sng" dirty="0">
                <a:solidFill>
                  <a:srgbClr val="1155CC"/>
                </a:solidFill>
                <a:hlinkClick r:id="rId4" action="ppaction://hlinkfile"/>
              </a:rPr>
              <a:t>Log in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4" name="Group 13"/>
          <p:cNvGrpSpPr/>
          <p:nvPr/>
        </p:nvGrpSpPr>
        <p:grpSpPr>
          <a:xfrm>
            <a:off x="2026020" y="1517209"/>
            <a:ext cx="5091959" cy="3416400"/>
            <a:chOff x="2026020" y="1517209"/>
            <a:chExt cx="5091959" cy="3416400"/>
          </a:xfrm>
        </p:grpSpPr>
        <p:pic>
          <p:nvPicPr>
            <p:cNvPr id="13" name="Picture 12" descr="A screenshot of a computer&#10;&#10;Description automatically generated"/>
            <p:cNvPicPr>
              <a:picLocks noChangeAspect="1"/>
            </p:cNvPicPr>
            <p:nvPr/>
          </p:nvPicPr>
          <p:blipFill>
            <a:blip r:embed="rId3"/>
            <a:stretch>
              <a:fillRect/>
            </a:stretch>
          </p:blipFill>
          <p:spPr>
            <a:xfrm>
              <a:off x="2026020" y="1517209"/>
              <a:ext cx="5091959" cy="3416400"/>
            </a:xfrm>
            <a:prstGeom prst="rect">
              <a:avLst/>
            </a:prstGeom>
            <a:ln w="28575">
              <a:solidFill>
                <a:schemeClr val="tx1"/>
              </a:solidFill>
            </a:ln>
          </p:spPr>
        </p:pic>
        <p:sp>
          <p:nvSpPr>
            <p:cNvPr id="4" name="Rectangle 3"/>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Arrow: Slight curve with solid fill"/>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782901" y="3942392"/>
              <a:ext cx="669855" cy="618930"/>
            </a:xfrm>
            <a:prstGeom prst="rect">
              <a:avLst/>
            </a:prstGeom>
          </p:spPr>
        </p:pic>
      </p:grpSp>
      <p:sp>
        <p:nvSpPr>
          <p:cNvPr id="165" name="Google Shape;165;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980000"/>
                </a:solidFill>
              </a:rPr>
              <a:t>4. Check the review results (B) </a:t>
            </a:r>
            <a:endParaRPr sz="2400" b="1" dirty="0">
              <a:solidFill>
                <a:srgbClr val="FF0000"/>
              </a:solidFill>
            </a:endParaRPr>
          </a:p>
        </p:txBody>
      </p:sp>
      <p:sp>
        <p:nvSpPr>
          <p:cNvPr id="166" name="Google Shape;166;p29"/>
          <p:cNvSpPr txBox="1">
            <a:spLocks noGrp="1"/>
          </p:cNvSpPr>
          <p:nvPr>
            <p:ph type="body" idx="1"/>
          </p:nvPr>
        </p:nvSpPr>
        <p:spPr>
          <a:xfrm>
            <a:off x="311700" y="9830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Click “</a:t>
            </a:r>
            <a:r>
              <a:rPr lang="en-GB" b="1" dirty="0">
                <a:solidFill>
                  <a:srgbClr val="1155CC"/>
                </a:solidFill>
              </a:rPr>
              <a:t>PC member</a:t>
            </a:r>
            <a:r>
              <a:rPr lang="en-GB" dirty="0"/>
              <a:t>”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800" b="1" dirty="0">
                <a:solidFill>
                  <a:srgbClr val="980000"/>
                </a:solidFill>
              </a:rPr>
              <a:t>4. Check the review results (C)</a:t>
            </a:r>
            <a:endParaRPr lang="en-US" dirty="0"/>
          </a:p>
        </p:txBody>
      </p:sp>
      <p:sp>
        <p:nvSpPr>
          <p:cNvPr id="3" name="Text Placeholder 2"/>
          <p:cNvSpPr>
            <a:spLocks noGrp="1"/>
          </p:cNvSpPr>
          <p:nvPr>
            <p:ph type="body" idx="1"/>
          </p:nvPr>
        </p:nvSpPr>
        <p:spPr/>
        <p:txBody>
          <a:bodyPr/>
          <a:lstStyle/>
          <a:p>
            <a:pPr marL="114300" indent="0">
              <a:buNone/>
            </a:pPr>
            <a:r>
              <a:rPr lang="en-GB" dirty="0">
                <a:solidFill>
                  <a:schemeClr val="dk1"/>
                </a:solidFill>
              </a:rPr>
              <a:t>Click </a:t>
            </a:r>
            <a:r>
              <a:rPr lang="en-GB" dirty="0"/>
              <a:t>papers </a:t>
            </a:r>
            <a:r>
              <a:rPr lang="en-GB" dirty="0">
                <a:solidFill>
                  <a:schemeClr val="dk1"/>
                </a:solidFill>
              </a:rPr>
              <a:t>“</a:t>
            </a:r>
            <a:r>
              <a:rPr lang="en-GB" b="1" dirty="0">
                <a:solidFill>
                  <a:srgbClr val="1155CC"/>
                </a:solidFill>
              </a:rPr>
              <a:t>Reviews</a:t>
            </a:r>
            <a:r>
              <a:rPr lang="en-GB" dirty="0">
                <a:solidFill>
                  <a:schemeClr val="dk1"/>
                </a:solidFill>
              </a:rPr>
              <a:t>” -&gt; “</a:t>
            </a:r>
            <a:r>
              <a:rPr lang="en-GB" b="1" dirty="0">
                <a:solidFill>
                  <a:srgbClr val="1155CC"/>
                </a:solidFill>
              </a:rPr>
              <a:t>Assigned to me</a:t>
            </a:r>
            <a:r>
              <a:rPr lang="en-GB" dirty="0">
                <a:solidFill>
                  <a:schemeClr val="dk1"/>
                </a:solidFill>
              </a:rPr>
              <a:t>”; Now, you will be able to </a:t>
            </a:r>
            <a:r>
              <a:rPr lang="en-GB" dirty="0">
                <a:solidFill>
                  <a:srgbClr val="FF0000"/>
                </a:solidFill>
              </a:rPr>
              <a:t>see</a:t>
            </a:r>
            <a:r>
              <a:rPr lang="en-GB" dirty="0">
                <a:solidFill>
                  <a:schemeClr val="dk1"/>
                </a:solidFill>
              </a:rPr>
              <a:t> all the papers in your session</a:t>
            </a:r>
            <a:endParaRPr lang="en-GB" sz="2500" dirty="0"/>
          </a:p>
          <a:p>
            <a:endParaRPr lang="en-US" dirty="0"/>
          </a:p>
        </p:txBody>
      </p:sp>
      <p:grpSp>
        <p:nvGrpSpPr>
          <p:cNvPr id="11" name="Group 10"/>
          <p:cNvGrpSpPr/>
          <p:nvPr/>
        </p:nvGrpSpPr>
        <p:grpSpPr>
          <a:xfrm>
            <a:off x="853089" y="2116373"/>
            <a:ext cx="7437822" cy="2742876"/>
            <a:chOff x="309457" y="1152475"/>
            <a:chExt cx="8522843" cy="3143004"/>
          </a:xfrm>
        </p:grpSpPr>
        <p:pic>
          <p:nvPicPr>
            <p:cNvPr id="7" name="Picture 6" descr="A screenshot of a computer&#10;&#10;Description automatically generated"/>
            <p:cNvPicPr>
              <a:picLocks noChangeAspect="1"/>
            </p:cNvPicPr>
            <p:nvPr/>
          </p:nvPicPr>
          <p:blipFill rotWithShape="1">
            <a:blip r:embed="rId2"/>
            <a:srcRect b="11365"/>
            <a:stretch>
              <a:fillRect/>
            </a:stretch>
          </p:blipFill>
          <p:spPr>
            <a:xfrm>
              <a:off x="309457" y="1152475"/>
              <a:ext cx="8522843" cy="3143004"/>
            </a:xfrm>
            <a:prstGeom prst="rect">
              <a:avLst/>
            </a:prstGeom>
            <a:ln w="28575">
              <a:solidFill>
                <a:schemeClr val="tx1"/>
              </a:solidFill>
            </a:ln>
          </p:spPr>
        </p:pic>
        <p:sp>
          <p:nvSpPr>
            <p:cNvPr id="8" name="Rectangle 7"/>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rrow: Straight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63313" y="1778730"/>
              <a:ext cx="768743" cy="768743"/>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5" name="Picture 14" descr="A screenshot of a computer&#10;&#10;Description automatically generated"/>
          <p:cNvPicPr>
            <a:picLocks noChangeAspect="1"/>
          </p:cNvPicPr>
          <p:nvPr/>
        </p:nvPicPr>
        <p:blipFill rotWithShape="1">
          <a:blip r:embed="rId3"/>
          <a:srcRect b="10310"/>
          <a:stretch>
            <a:fillRect/>
          </a:stretch>
        </p:blipFill>
        <p:spPr>
          <a:xfrm>
            <a:off x="1445536" y="2044324"/>
            <a:ext cx="6252928" cy="2959755"/>
          </a:xfrm>
          <a:prstGeom prst="rect">
            <a:avLst/>
          </a:prstGeom>
        </p:spPr>
      </p:pic>
      <p:sp>
        <p:nvSpPr>
          <p:cNvPr id="172" name="Google Shape;17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980000"/>
                </a:solidFill>
              </a:rPr>
              <a:t>4. Check the review results (D) </a:t>
            </a:r>
            <a:endParaRPr sz="2400" b="1" dirty="0">
              <a:solidFill>
                <a:schemeClr val="accent4"/>
              </a:solidFill>
            </a:endParaRPr>
          </a:p>
        </p:txBody>
      </p:sp>
      <p:sp>
        <p:nvSpPr>
          <p:cNvPr id="173" name="Google Shape;173;p30"/>
          <p:cNvSpPr txBox="1">
            <a:spLocks noGrp="1"/>
          </p:cNvSpPr>
          <p:nvPr>
            <p:ph type="body" idx="1"/>
          </p:nvPr>
        </p:nvSpPr>
        <p:spPr>
          <a:xfrm>
            <a:off x="245150" y="9208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Check the review result of the paper</a:t>
            </a:r>
            <a:endParaRPr dirty="0"/>
          </a:p>
          <a:p>
            <a:pPr marL="0" lvl="0" indent="0" algn="l" rtl="0">
              <a:spcBef>
                <a:spcPts val="1200"/>
              </a:spcBef>
              <a:spcAft>
                <a:spcPts val="1200"/>
              </a:spcAft>
              <a:buNone/>
            </a:pPr>
            <a:r>
              <a:rPr lang="en-GB" dirty="0"/>
              <a:t>	 </a:t>
            </a:r>
            <a:r>
              <a:rPr lang="en-GB" dirty="0">
                <a:solidFill>
                  <a:schemeClr val="dk1"/>
                </a:solidFill>
              </a:rPr>
              <a:t>Click          under “Show reviews” to access</a:t>
            </a:r>
            <a:r>
              <a:rPr lang="zh-CN" altLang="en-US" dirty="0">
                <a:solidFill>
                  <a:schemeClr val="dk1"/>
                </a:solidFill>
              </a:rPr>
              <a:t> </a:t>
            </a:r>
            <a:r>
              <a:rPr lang="en-US" altLang="zh-CN" dirty="0">
                <a:solidFill>
                  <a:schemeClr val="dk1"/>
                </a:solidFill>
              </a:rPr>
              <a:t>the</a:t>
            </a:r>
            <a:r>
              <a:rPr lang="en-GB" dirty="0">
                <a:solidFill>
                  <a:schemeClr val="dk1"/>
                </a:solidFill>
              </a:rPr>
              <a:t> review results</a:t>
            </a:r>
            <a:endParaRPr dirty="0">
              <a:solidFill>
                <a:schemeClr val="dk1"/>
              </a:solidFill>
            </a:endParaRPr>
          </a:p>
        </p:txBody>
      </p:sp>
      <p:pic>
        <p:nvPicPr>
          <p:cNvPr id="4" name="Picture 3" descr="A screenshot of a computer&#10;&#10;Description automatically generated"/>
          <p:cNvPicPr>
            <a:picLocks noChangeAspect="1"/>
          </p:cNvPicPr>
          <p:nvPr/>
        </p:nvPicPr>
        <p:blipFill>
          <a:blip r:embed="rId4"/>
          <a:stretch>
            <a:fillRect/>
          </a:stretch>
        </p:blipFill>
        <p:spPr>
          <a:xfrm>
            <a:off x="1833616" y="1386120"/>
            <a:ext cx="561687" cy="572700"/>
          </a:xfrm>
          <a:prstGeom prst="rect">
            <a:avLst/>
          </a:prstGeom>
          <a:ln w="28575">
            <a:noFill/>
          </a:ln>
        </p:spPr>
      </p:pic>
      <p:sp>
        <p:nvSpPr>
          <p:cNvPr id="6" name="Rectangle 5"/>
          <p:cNvSpPr/>
          <p:nvPr/>
        </p:nvSpPr>
        <p:spPr>
          <a:xfrm>
            <a:off x="4452025" y="4666861"/>
            <a:ext cx="239949" cy="1828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Arrow: Slight curve with solid fill"/>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37625" y="4301083"/>
            <a:ext cx="914400" cy="914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980000"/>
                </a:solidFill>
              </a:rPr>
              <a:t>4. Check the review results (E) </a:t>
            </a:r>
            <a:endParaRPr sz="2400" b="1" dirty="0">
              <a:solidFill>
                <a:srgbClr val="980000"/>
              </a:solidFill>
            </a:endParaRPr>
          </a:p>
        </p:txBody>
      </p:sp>
      <p:sp>
        <p:nvSpPr>
          <p:cNvPr id="196" name="Google Shape;196;p33"/>
          <p:cNvSpPr txBox="1">
            <a:spLocks noGrp="1"/>
          </p:cNvSpPr>
          <p:nvPr>
            <p:ph type="body" idx="1"/>
          </p:nvPr>
        </p:nvSpPr>
        <p:spPr>
          <a:xfrm>
            <a:off x="311700" y="95278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See the review result of your paper </a:t>
            </a:r>
            <a:endParaRPr dirty="0"/>
          </a:p>
        </p:txBody>
      </p:sp>
      <p:pic>
        <p:nvPicPr>
          <p:cNvPr id="197" name="Google Shape;197;p33"/>
          <p:cNvPicPr preferRelativeResize="0"/>
          <p:nvPr/>
        </p:nvPicPr>
        <p:blipFill>
          <a:blip r:embed="rId3"/>
          <a:stretch>
            <a:fillRect/>
          </a:stretch>
        </p:blipFill>
        <p:spPr>
          <a:xfrm>
            <a:off x="471771" y="1543195"/>
            <a:ext cx="3895725" cy="3333750"/>
          </a:xfrm>
          <a:prstGeom prst="rect">
            <a:avLst/>
          </a:prstGeom>
          <a:noFill/>
          <a:ln w="28575" cap="flat" cmpd="sng">
            <a:solidFill>
              <a:schemeClr val="tx1"/>
            </a:solidFill>
            <a:prstDash val="solid"/>
            <a:round/>
            <a:headEnd type="none" w="sm" len="sm"/>
            <a:tailEnd type="none" w="sm" len="sm"/>
          </a:ln>
        </p:spPr>
      </p:pic>
      <p:pic>
        <p:nvPicPr>
          <p:cNvPr id="3" name="Picture 2" descr="A screenshot of a survey&#10;&#10;Description automatically generated"/>
          <p:cNvPicPr>
            <a:picLocks noChangeAspect="1"/>
          </p:cNvPicPr>
          <p:nvPr/>
        </p:nvPicPr>
        <p:blipFill>
          <a:blip r:embed="rId4"/>
          <a:stretch>
            <a:fillRect/>
          </a:stretch>
        </p:blipFill>
        <p:spPr>
          <a:xfrm>
            <a:off x="4649415" y="784077"/>
            <a:ext cx="4216568" cy="4092868"/>
          </a:xfrm>
          <a:prstGeom prst="rect">
            <a:avLst/>
          </a:prstGeom>
          <a:ln w="28575">
            <a:solidFill>
              <a:schemeClr val="tx1"/>
            </a:solid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8496</TotalTime>
  <Words>809</Words>
  <Application>Microsoft Macintosh PowerPoint</Application>
  <PresentationFormat>On-screen Show (16:9)</PresentationFormat>
  <Paragraphs>73</Paragraphs>
  <Slides>22</Slides>
  <Notes>21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Simple Light</vt:lpstr>
      <vt:lpstr>Instructions for UV2026 Paper Review &amp; Assignment on EasyChair</vt:lpstr>
      <vt:lpstr>Outline</vt:lpstr>
      <vt:lpstr>Account login (A)</vt:lpstr>
      <vt:lpstr>Account login (B) </vt:lpstr>
      <vt:lpstr>Account login (C)</vt:lpstr>
      <vt:lpstr>2.  Assign papers to reviewers (A)</vt:lpstr>
      <vt:lpstr>2. Assign papers to reviewers (B) After logging into EasyChair using your session chair account through Log in</vt:lpstr>
      <vt:lpstr>2. Assign papers to reviewers (C) Access papers in your session</vt:lpstr>
      <vt:lpstr>2. Assign papers to reviewers (D)       </vt:lpstr>
      <vt:lpstr>2. Assign papers to reviewers (E)  Assignment using Easychair</vt:lpstr>
      <vt:lpstr>2. Assign papers to reviewers (F)  You have now successfully sent a review request to your reviewer!</vt:lpstr>
      <vt:lpstr>3. Paper review process (A)  Use the account of your session chair to log into EasyChair through Log in </vt:lpstr>
      <vt:lpstr>3. Paper review process (B)       Access reviews</vt:lpstr>
      <vt:lpstr>3. Paper review process (C)  Find your assigned papers and click             to download papers</vt:lpstr>
      <vt:lpstr>3. Paper review process (D)  Click             to start to review papers </vt:lpstr>
      <vt:lpstr>3. Paper review process (E)  Now, you will see the following interface</vt:lpstr>
      <vt:lpstr>3. Paper review process (F)  Evaluate the paper and Provide comments </vt:lpstr>
      <vt:lpstr>4. Check the review results (A)</vt:lpstr>
      <vt:lpstr>4. Check the review results (B) </vt:lpstr>
      <vt:lpstr>4. Check the review results (C)</vt:lpstr>
      <vt:lpstr>4. Check the review results (D) </vt:lpstr>
      <vt:lpstr>4. Check the review results (E)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for UV2026 Paper Review &amp; Assignment on EasyChair</dc:title>
  <dc:creator/>
  <cp:lastModifiedBy>b139</cp:lastModifiedBy>
  <cp:revision>48</cp:revision>
  <dcterms:created xsi:type="dcterms:W3CDTF">2026-05-29T21:09:00Z</dcterms:created>
  <dcterms:modified xsi:type="dcterms:W3CDTF">2026-06-06T02:07:19Z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86272A2016F4443CBA7744EC73565333_13</vt:lpwstr>
  </property>
  <property fmtid="{D5CDD505-2E9C-101B-9397-08002B2CF9AE}" pid="3" name="KSOProductBuildVer">
    <vt:lpwstr>1033-12.1.0.26880</vt:lpwstr>
  </property>
</Properties>
</file>