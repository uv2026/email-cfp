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3.svg" ContentType="image/svg+xml"/>
  <Override PartName="/ppt/media/image15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handoutMasterIdLst>
    <p:handoutMasterId r:id="rId30"/>
  </p:handoutMasterIdLst>
  <p:sldIdLst>
    <p:sldId id="256" r:id="rId3"/>
    <p:sldId id="257" r:id="rId5"/>
    <p:sldId id="285" r:id="rId6"/>
    <p:sldId id="286" r:id="rId7"/>
    <p:sldId id="287" r:id="rId8"/>
    <p:sldId id="288" r:id="rId9"/>
    <p:sldId id="289" r:id="rId10"/>
    <p:sldId id="290" r:id="rId11"/>
    <p:sldId id="298" r:id="rId12"/>
    <p:sldId id="279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80" r:id="rId24"/>
    <p:sldId id="281" r:id="rId25"/>
    <p:sldId id="282" r:id="rId26"/>
    <p:sldId id="292" r:id="rId27"/>
    <p:sldId id="284" r:id="rId28"/>
    <p:sldId id="294" r:id="rId2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549"/>
  </p:normalViewPr>
  <p:slideViewPr>
    <p:cSldViewPr snapToGrid="0" showGuides="1">
      <p:cViewPr varScale="1">
        <p:scale>
          <a:sx n="163" d="100"/>
          <a:sy n="163" d="100"/>
        </p:scale>
        <p:origin x="400" y="17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3" Type="http://schemas.openxmlformats.org/officeDocument/2006/relationships/tableStyles" Target="tableStyles.xml"/><Relationship Id="rId32" Type="http://schemas.openxmlformats.org/officeDocument/2006/relationships/viewProps" Target="viewProps.xml"/><Relationship Id="rId31" Type="http://schemas.openxmlformats.org/officeDocument/2006/relationships/presProps" Target="presProps.xml"/><Relationship Id="rId30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13a1d080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13a1d080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13a1d080442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13a1d080442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13a1d080442_0_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13a1d080442_0_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13a1d08044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13a1d080442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3a1d080442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3a1d080442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13a1d080442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13a1d080442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13a1d080442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13a1d080442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13bdb8b9178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13bdb8b9178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13a1d080442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13a1d080442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13a1d080442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13a1d080442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3a1d080442_0_1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3a1d080442_0_1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13a1d080442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13a1d080442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13a1d080442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13a1d080442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13a1d080442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13a1d080442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13a1d080442_0_1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13a1d080442_0_1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838a1a3b3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838a1a3b3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15ecddd666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15ecddd6668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15ecddd666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15ecddd6668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13a1d080442_0_1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13a1d080442_0_1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15ecddd6668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15ecddd6668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matchingName="Title and body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 matchingName="Title and two columns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3.xml"/><Relationship Id="rId5" Type="http://schemas.openxmlformats.org/officeDocument/2006/relationships/slide" Target="slide22.xml"/><Relationship Id="rId4" Type="http://schemas.openxmlformats.org/officeDocument/2006/relationships/slide" Target="slide21.xml"/><Relationship Id="rId3" Type="http://schemas.openxmlformats.org/officeDocument/2006/relationships/slide" Target="slide12.xml"/><Relationship Id="rId2" Type="http://schemas.openxmlformats.org/officeDocument/2006/relationships/slide" Target="slide11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.png"/><Relationship Id="rId1" Type="http://schemas.openxmlformats.org/officeDocument/2006/relationships/hyperlink" Target="https://easychair.org/conferences/?conf=ieeeuv2026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jpe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7.jpeg"/><Relationship Id="rId1" Type="http://schemas.openxmlformats.org/officeDocument/2006/relationships/hyperlink" Target="https://easychair.org/conferences/?conf=ieeeuv2026" TargetMode="External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9.xml"/><Relationship Id="rId5" Type="http://schemas.openxmlformats.org/officeDocument/2006/relationships/slideLayout" Target="../slideLayouts/slideLayout3.xml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hyperlink" Target="https://easychair.org/conferences/?conf=ieeeUV2026" TargetMode="Externa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0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15.svg"/><Relationship Id="rId4" Type="http://schemas.openxmlformats.org/officeDocument/2006/relationships/image" Target="../media/image14.png"/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hyperlink" Target="mailto:uv.conf.committee@universal-village.org" TargetMode="Externa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4.png"/><Relationship Id="rId1" Type="http://schemas.openxmlformats.org/officeDocument/2006/relationships/image" Target="../media/image23.jpe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8.jpeg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hyperlink" Target="mailto:uv.conf.committee@universal-village.org" TargetMode="Externa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0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17.png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4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9.png"/><Relationship Id="rId1" Type="http://schemas.openxmlformats.org/officeDocument/2006/relationships/image" Target="../media/image18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31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hyperlink" Target="mailto:uv2026.conf@universal-village.or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836550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lvl="0"/>
            <a:r>
              <a:rPr lang="en-GB" dirty="0">
                <a:solidFill>
                  <a:srgbClr val="980000"/>
                </a:solidFill>
              </a:rPr>
              <a:t>IEEE UV2026 Paper Review Instructions on </a:t>
            </a:r>
            <a:r>
              <a:rPr lang="en-GB" dirty="0" err="1">
                <a:solidFill>
                  <a:srgbClr val="980000"/>
                </a:solidFill>
              </a:rPr>
              <a:t>EasyChair</a:t>
            </a:r>
            <a:endParaRPr dirty="0">
              <a:solidFill>
                <a:srgbClr val="980000"/>
              </a:solidFill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406400" algn="ctr" rtl="0">
              <a:spcBef>
                <a:spcPts val="0"/>
              </a:spcBef>
              <a:spcAft>
                <a:spcPts val="0"/>
              </a:spcAft>
              <a:buSzPts val="2800"/>
              <a:buChar char="-"/>
            </a:pPr>
            <a:r>
              <a:rPr lang="en-GB" dirty="0"/>
              <a:t>Reviewer G</a:t>
            </a:r>
            <a:r>
              <a:rPr lang="en-US" altLang="zh-CN" dirty="0" err="1"/>
              <a:t>uide</a:t>
            </a:r>
            <a:endParaRPr lang="en-GB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Outline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30909" y="1087775"/>
            <a:ext cx="8839199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reate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 </a:t>
            </a:r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ccount	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 action="ppaction://hlinksldjump"/>
              </a:rPr>
              <a:t>[</a:t>
            </a:r>
            <a:r>
              <a:rPr lang="en-GB" sz="200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 action="ppaction://hlinksldjump"/>
              </a:rPr>
              <a:t>Slide 3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1" action="ppaction://hlinksldjump"/>
              </a:rPr>
              <a:t>] 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Assigned Papers and Submit Reviews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 action="ppaction://hlinksldjump"/>
              </a:rPr>
              <a:t>[Slide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 action="ppaction://hlinksldjump"/>
              </a:rPr>
              <a:t> 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2" action="ppaction://hlinksldjump"/>
              </a:rPr>
              <a:t>11]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Review with Your Own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16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3" action="ppaction://hlinksldjump"/>
              </a:rPr>
              <a:t>[Slide 12]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7100" lvl="1" indent="-342900">
              <a:buSzPts val="1600"/>
              <a:buFont typeface="+mj-lt"/>
              <a:buAutoNum type="arabicParenR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Offline Review Form				  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4" action="ppaction://hlinksldjump"/>
              </a:rPr>
              <a:t>[Slide 21]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355600">
              <a:buSzPts val="2000"/>
              <a:buFont typeface="Arial" panose="020B0604020202020204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or Edit a Submitted Review			         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  <a:hlinkClick r:id="rId5" action="ppaction://hlinksldjump"/>
              </a:rPr>
              <a:t>[Slide 22]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76200" lvl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92075" y="1017905"/>
            <a:ext cx="8924925" cy="327850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 to the EasyChair login page: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46200" lvl="2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</a:pPr>
            <a:r>
              <a:rPr lang="en-US" altLang="zh-CN" sz="16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https://easychair.org/conferences/?conf=ieeeuv2026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0325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Click “</a:t>
            </a:r>
            <a:r>
              <a:rPr lang="en-US" altLang="zh-CN" sz="1600" b="1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account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start the registration process.</a:t>
            </a:r>
            <a:endParaRPr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6140" y="2299335"/>
            <a:ext cx="3439160" cy="2633345"/>
          </a:xfrm>
          <a:prstGeom prst="rect">
            <a:avLst/>
          </a:prstGeom>
          <a:ln w="28575" cmpd="sng">
            <a:solidFill>
              <a:schemeClr val="tx1"/>
            </a:solidFill>
            <a:prstDash val="solid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body" idx="1"/>
          </p:nvPr>
        </p:nvSpPr>
        <p:spPr>
          <a:xfrm>
            <a:off x="739000" y="1128500"/>
            <a:ext cx="80175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 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</a:t>
            </a:r>
            <a:r>
              <a:rPr lang="en-US" altLang="zh-CN" sz="1600" b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verification</a:t>
            </a:r>
            <a:r>
              <a:rPr lang="en-US" altLang="zh-CN" sz="160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(reCAPTCHA) as required.</a:t>
            </a:r>
            <a:endParaRPr lang="en-US" altLang="zh-CN" sz="160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algn="l" rtl="0">
              <a:spcBef>
                <a:spcPts val="0"/>
              </a:spcBef>
              <a:spcAft>
                <a:spcPts val="1200"/>
              </a:spcAft>
            </a:pPr>
            <a:endParaRPr sz="1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5" name="Google Shape;75;p16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262089" y="1767950"/>
            <a:ext cx="4619823" cy="272092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/>
          <p:nvPr/>
        </p:nvSpPr>
        <p:spPr>
          <a:xfrm>
            <a:off x="438700" y="572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  <a:endParaRPr lang="en-US" altLang="zh-CN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body" idx="1"/>
          </p:nvPr>
        </p:nvSpPr>
        <p:spPr>
          <a:xfrm>
            <a:off x="840600" y="1116125"/>
            <a:ext cx="79917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Fill in your personal information in the registration form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altLang="en-GB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2" name="Google Shape;82;p1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524002" y="1716635"/>
            <a:ext cx="4624899" cy="290795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0" y="1089660"/>
            <a:ext cx="4535170" cy="4053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 lnSpcReduction="20000"/>
          </a:bodyPr>
          <a:lstStyle/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e) After submitting the form, a confirmation message will be displayed, indicating that a verification email has been sent to your registered email address.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f)  Check your email inbox for a verification message from EasyChair.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g)  Enter the verification code provided in the email.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r>
              <a:rPr lang="en-US" altLang="en-GB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h)  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Click “</a:t>
            </a:r>
            <a:r>
              <a:rPr lang="en-US" altLang="zh-CN" sz="18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Create account</a:t>
            </a:r>
            <a:r>
              <a:rPr lang="en-US" altLang="zh-CN" sz="18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” to finalize your registration.</a:t>
            </a:r>
            <a:endParaRPr lang="en-US" altLang="zh-CN" sz="18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 algn="l">
              <a:lnSpc>
                <a:spcPct val="150000"/>
              </a:lnSpc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4598035" y="3375660"/>
            <a:ext cx="4390390" cy="1691005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6" name="Google Shape;96;p1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4598035" y="1089660"/>
            <a:ext cx="4389755" cy="211963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>
            <a:spLocks noGrp="1"/>
          </p:cNvSpPr>
          <p:nvPr>
            <p:ph type="body" idx="1"/>
          </p:nvPr>
        </p:nvSpPr>
        <p:spPr>
          <a:xfrm>
            <a:off x="311700" y="1418375"/>
            <a:ext cx="2882700" cy="3416400"/>
          </a:xfrm>
          <a:prstGeom prst="rect">
            <a:avLst/>
          </a:prstGeom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) Click the </a:t>
            </a:r>
            <a:r>
              <a:rPr lang="en-US" altLang="en-GB" sz="1600" b="1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“Click here to log in” 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link to access the </a:t>
            </a:r>
            <a:r>
              <a:rPr lang="en-US" altLang="en-GB" sz="1600" dirty="0" err="1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EasyChair</a:t>
            </a: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login page.</a:t>
            </a:r>
            <a:endParaRPr lang="en-US" altLang="zh-CN" sz="1600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103" name="Google Shape;103;p20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3693850" y="1640550"/>
            <a:ext cx="5031050" cy="240012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</a:rPr>
              <a:t> Account-5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10977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1" indent="0">
              <a:lnSpc>
                <a:spcPct val="150000"/>
              </a:lnSpc>
              <a:buNone/>
            </a:pPr>
            <a:r>
              <a:rPr lang="en-US" alt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j)  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can now log in to EasyChair using your registered email address (or username) and password.</a:t>
            </a:r>
            <a:r>
              <a:rPr lang="en-GB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GB" sz="16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 action="ppaction://hlinkfile"/>
              </a:rPr>
              <a:t>Log in</a:t>
            </a:r>
            <a:r>
              <a:rPr lang="en-US" altLang="en-GB" sz="1600" u="sng" dirty="0">
                <a:solidFill>
                  <a:srgbClr val="1155C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（</a:t>
            </a:r>
            <a:r>
              <a:rPr lang="en-US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https://easychair.org/conferences/?conf=ieeeuv2026</a:t>
            </a:r>
            <a:r>
              <a:rPr lang="en-US" altLang="zh-CN" sz="16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sz="1600" dirty="0">
                <a:solidFill>
                  <a:schemeClr val="dk1"/>
                </a:solidFill>
                <a:latin typeface="Times New Roman" panose="02020603050405020304" pitchFamily="18" charset="0"/>
                <a:ea typeface="SimSun" panose="02010600030101010101" pitchFamily="2" charset="-122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sz="1600" u="sng" dirty="0">
              <a:solidFill>
                <a:schemeClr val="dk1"/>
              </a:solidFill>
              <a:latin typeface="Times New Roman" panose="02020603050405020304" pitchFamily="18" charset="0"/>
              <a:ea typeface="SimSun" panose="02010600030101010101" pitchFamily="2" charset="-122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110" name="Google Shape;110;p21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2335530" y="2476500"/>
            <a:ext cx="4472940" cy="2420620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4"/>
            <a:ext cx="8520600" cy="404894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dirty="0">
                <a:solidFill>
                  <a:srgbClr val="00B050"/>
                </a:solidFill>
              </a:rPr>
              <a:t>Please make sure that you are logged in to </a:t>
            </a:r>
            <a:r>
              <a:rPr lang="en-US" sz="1800" dirty="0" err="1">
                <a:solidFill>
                  <a:srgbClr val="00B050"/>
                </a:solidFill>
              </a:rPr>
              <a:t>EasyChair</a:t>
            </a:r>
            <a:r>
              <a:rPr lang="en-US" sz="1800" dirty="0">
                <a:solidFill>
                  <a:srgbClr val="00B050"/>
                </a:solidFill>
              </a:rPr>
              <a:t> before accessing the IEEE UV2026 conference page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r>
              <a:rPr lang="en-US" sz="1300" i="1" dirty="0">
                <a:solidFill>
                  <a:srgbClr val="00B050"/>
                </a:solidFill>
              </a:rPr>
              <a:t>(</a:t>
            </a:r>
            <a:r>
              <a:rPr lang="en-US" sz="1300" i="1" dirty="0">
                <a:solidFill>
                  <a:srgbClr val="00B050"/>
                </a:solidFill>
                <a:hlinkClick r:id="rId1"/>
              </a:rPr>
              <a:t>https://easychair.org/conferences/?conf=ieeeUV2026</a:t>
            </a:r>
            <a:r>
              <a:rPr lang="en-US" sz="1300" i="1" dirty="0">
                <a:solidFill>
                  <a:srgbClr val="00B050"/>
                </a:solidFill>
              </a:rPr>
              <a:t>)</a:t>
            </a:r>
            <a:r>
              <a:rPr lang="en-US" sz="2100" dirty="0">
                <a:solidFill>
                  <a:srgbClr val="00B050"/>
                </a:solidFill>
              </a:rPr>
              <a:t>.</a:t>
            </a:r>
            <a:r>
              <a:rPr lang="en-US" sz="1800" i="1" dirty="0">
                <a:solidFill>
                  <a:srgbClr val="00B050"/>
                </a:solidFill>
              </a:rPr>
              <a:t> </a:t>
            </a:r>
            <a:endParaRPr lang="en-US" sz="1800" i="1" dirty="0">
              <a:solidFill>
                <a:srgbClr val="00B050"/>
              </a:solidFill>
            </a:endParaRPr>
          </a:p>
          <a:p>
            <a:pPr marL="558800" lvl="1" indent="0">
              <a:buClr>
                <a:schemeClr val="dk1"/>
              </a:buClr>
              <a:buSzPts val="2000"/>
              <a:buNone/>
            </a:pPr>
            <a:r>
              <a:rPr lang="en-US" sz="1800" i="1" dirty="0">
                <a:solidFill>
                  <a:srgbClr val="00B050"/>
                </a:solidFill>
              </a:rPr>
              <a:t>Otherwise, you may encounter the following error message.</a:t>
            </a:r>
            <a:endParaRPr lang="en-US" sz="2000" i="1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endParaRPr lang="en-US" sz="2000" dirty="0">
              <a:solidFill>
                <a:schemeClr val="dk1"/>
              </a:solidFill>
            </a:endParaRPr>
          </a:p>
          <a:p>
            <a:pPr marL="914400" lvl="1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AutoNum type="alphaLcParenR"/>
            </a:pPr>
            <a:r>
              <a:rPr lang="en-US" sz="2000" dirty="0">
                <a:solidFill>
                  <a:schemeClr val="dk1"/>
                </a:solidFill>
              </a:rPr>
              <a:t>Please click the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“</a:t>
            </a:r>
            <a:r>
              <a:rPr lang="en-US" sz="2000" b="1" dirty="0">
                <a:solidFill>
                  <a:srgbClr val="1155CC"/>
                </a:solidFill>
                <a:sym typeface="+mn-ea"/>
              </a:rPr>
              <a:t>Log in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”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on the top right corner AND enter your </a:t>
            </a:r>
            <a:r>
              <a:rPr lang="en-US" sz="2000" dirty="0">
                <a:solidFill>
                  <a:schemeClr val="dk1"/>
                </a:solidFill>
                <a:sym typeface="+mn-ea"/>
              </a:rPr>
              <a:t>account and password</a:t>
            </a:r>
            <a:r>
              <a:rPr lang="en-US" altLang="en-GB" sz="2000" dirty="0">
                <a:solidFill>
                  <a:schemeClr val="dk1"/>
                </a:solidFill>
                <a:sym typeface="+mn-ea"/>
              </a:rPr>
              <a:t> to log in. 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9" name="Group 8"/>
          <p:cNvGrpSpPr/>
          <p:nvPr/>
        </p:nvGrpSpPr>
        <p:grpSpPr>
          <a:xfrm>
            <a:off x="156124" y="1412933"/>
            <a:ext cx="8977800" cy="1633855"/>
            <a:chOff x="156124" y="1526222"/>
            <a:chExt cx="8977800" cy="1633855"/>
          </a:xfrm>
        </p:grpSpPr>
        <p:pic>
          <p:nvPicPr>
            <p:cNvPr id="4" name="Picture 3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6124" y="1983422"/>
              <a:ext cx="8830945" cy="1176655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sp>
          <p:nvSpPr>
            <p:cNvPr id="2" name="Rectangle 1"/>
            <p:cNvSpPr/>
            <p:nvPr/>
          </p:nvSpPr>
          <p:spPr>
            <a:xfrm>
              <a:off x="250854" y="2774909"/>
              <a:ext cx="995320" cy="36414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Graphic 7" descr="Arrow: Rotate right with solid fill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219524" y="1526222"/>
              <a:ext cx="914400" cy="914400"/>
            </a:xfrm>
            <a:prstGeom prst="rect">
              <a:avLst/>
            </a:prstGeom>
          </p:spPr>
        </p:pic>
      </p:grpSp>
      <p:sp>
        <p:nvSpPr>
          <p:cNvPr id="66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156124" y="555425"/>
            <a:ext cx="8520600" cy="327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558800" lvl="1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 dirty="0">
                <a:solidFill>
                  <a:schemeClr val="dk1"/>
                </a:solidFill>
              </a:rPr>
              <a:t>b) After logging in, click on “Conferences” and then “IEEE UV2026” to access UV2026 Publication System</a:t>
            </a: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2000" dirty="0"/>
          </a:p>
        </p:txBody>
      </p:sp>
      <p:grpSp>
        <p:nvGrpSpPr>
          <p:cNvPr id="7" name="Group 6"/>
          <p:cNvGrpSpPr/>
          <p:nvPr/>
        </p:nvGrpSpPr>
        <p:grpSpPr>
          <a:xfrm>
            <a:off x="241299" y="1348277"/>
            <a:ext cx="8660766" cy="3437338"/>
            <a:chOff x="241299" y="1348277"/>
            <a:chExt cx="8660766" cy="3437338"/>
          </a:xfrm>
        </p:grpSpPr>
        <p:pic>
          <p:nvPicPr>
            <p:cNvPr id="5" name="Picture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241300" y="1705610"/>
              <a:ext cx="8660765" cy="2561590"/>
            </a:xfrm>
            <a:prstGeom prst="rect">
              <a:avLst/>
            </a:prstGeom>
            <a:ln w="28575">
              <a:solidFill>
                <a:schemeClr val="tx1"/>
              </a:solidFill>
            </a:ln>
          </p:spPr>
        </p:pic>
        <p:pic>
          <p:nvPicPr>
            <p:cNvPr id="3" name="Graphic 2" descr="Arrow: Rotate right with solid fill"/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241299" y="1348277"/>
              <a:ext cx="751160" cy="714665"/>
            </a:xfrm>
            <a:prstGeom prst="rect">
              <a:avLst/>
            </a:prstGeom>
          </p:spPr>
        </p:pic>
        <p:pic>
          <p:nvPicPr>
            <p:cNvPr id="6" name="Graphic 5" descr="Arrow: Clockwise curve with solid fill"/>
            <p:cNvPicPr>
              <a:picLocks noChangeAspect="1"/>
            </p:cNvPicPr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320761" y="4193379"/>
              <a:ext cx="592236" cy="592236"/>
            </a:xfrm>
            <a:prstGeom prst="rect">
              <a:avLst/>
            </a:prstGeom>
          </p:spPr>
        </p:pic>
      </p:grpSp>
      <p:sp>
        <p:nvSpPr>
          <p:cNvPr id="4" name="Google Shape;66;p15"/>
          <p:cNvSpPr txBox="1">
            <a:spLocks noGrp="1"/>
          </p:cNvSpPr>
          <p:nvPr/>
        </p:nvSpPr>
        <p:spPr>
          <a:xfrm>
            <a:off x="250740" y="6212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rmAutofit fontScale="7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457200" lvl="0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80000"/>
              </a:buClr>
              <a:buSzPts val="2400"/>
              <a:buAutoNum type="arabicPeriod"/>
            </a:pP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Create an </a:t>
            </a:r>
            <a:r>
              <a:rPr lang="en-US" altLang="zh-CN" sz="3110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altLang="zh-CN" sz="311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  <a:endParaRPr lang="en-US" altLang="zh-CN" sz="311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>
            <a:spLocks noGrp="1"/>
          </p:cNvSpPr>
          <p:nvPr>
            <p:ph type="title"/>
          </p:nvPr>
        </p:nvSpPr>
        <p:spPr>
          <a:xfrm>
            <a:off x="311700" y="2946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Review Papers as a Reviewer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Google Shape;109;p21"/>
          <p:cNvSpPr txBox="1">
            <a:spLocks noGrp="1"/>
          </p:cNvSpPr>
          <p:nvPr>
            <p:ph type="body" idx="1"/>
          </p:nvPr>
        </p:nvSpPr>
        <p:spPr>
          <a:xfrm>
            <a:off x="311700" y="932450"/>
            <a:ext cx="8520600" cy="3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Reviewers may access assigned papers and submit reviews through one of the following methods: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1: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your own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 </a:t>
            </a: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(recommended)</a:t>
            </a:r>
            <a:endParaRPr lang="en-US" sz="2000" b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2: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 chair-assisted review workflow, only if arranged by your session chair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indent="-4572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arenR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3: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an offline review form if you have difficulty using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>
            <a:spLocks noGrp="1"/>
          </p:cNvSpPr>
          <p:nvPr>
            <p:ph type="title"/>
          </p:nvPr>
        </p:nvSpPr>
        <p:spPr>
          <a:xfrm>
            <a:off x="311699" y="294625"/>
            <a:ext cx="8716845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GB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Account-1</a:t>
            </a:r>
            <a:endParaRPr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Google Shape;115;p22"/>
          <p:cNvSpPr txBox="1">
            <a:spLocks noGrp="1"/>
          </p:cNvSpPr>
          <p:nvPr>
            <p:ph type="body" idx="1"/>
          </p:nvPr>
        </p:nvSpPr>
        <p:spPr>
          <a:xfrm>
            <a:off x="311700" y="10722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Please create your personal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 first. Then contact your session chair so that the assigned paper(s) can be assigned to your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account. Once the assignment has been completed, please follow the steps below to review the paper(s).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3"/>
          <p:cNvSpPr txBox="1">
            <a:spLocks noGrp="1"/>
          </p:cNvSpPr>
          <p:nvPr>
            <p:ph type="body" idx="1"/>
          </p:nvPr>
        </p:nvSpPr>
        <p:spPr>
          <a:xfrm>
            <a:off x="229425" y="867325"/>
            <a:ext cx="88161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After logging in, you will see the 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reviewer interface shown below. Click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assigned review request(s).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the “</a:t>
            </a:r>
            <a:r>
              <a:rPr lang="en-US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role does not appear, please contact your session chair or the UV2026 Organizing Committee at 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uv.conf.committee@universal-village.org</a:t>
            </a:r>
            <a:r>
              <a:rPr lang="en-US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for assistance.</a:t>
            </a:r>
            <a:endParaRPr lang="en-US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Account-2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rcRect l="1" r="1190"/>
          <a:stretch>
            <a:fillRect/>
          </a:stretch>
        </p:blipFill>
        <p:spPr>
          <a:xfrm>
            <a:off x="389343" y="2370213"/>
            <a:ext cx="4652846" cy="247866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矩形 3"/>
          <p:cNvSpPr/>
          <p:nvPr/>
        </p:nvSpPr>
        <p:spPr>
          <a:xfrm>
            <a:off x="436151" y="3149600"/>
            <a:ext cx="891310" cy="20320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noFill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106" y="2370213"/>
            <a:ext cx="3522732" cy="247268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898400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Click the view icon           to open the assigned review request.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1"/>
          <a:srcRect b="20451"/>
          <a:stretch>
            <a:fillRect/>
          </a:stretch>
        </p:blipFill>
        <p:spPr>
          <a:xfrm>
            <a:off x="3171296" y="1016000"/>
            <a:ext cx="555577" cy="32327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Account-3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0" y="1796327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>
            <a:spLocks noGrp="1"/>
          </p:cNvSpPr>
          <p:nvPr>
            <p:ph type="body" idx="1"/>
          </p:nvPr>
        </p:nvSpPr>
        <p:spPr>
          <a:xfrm>
            <a:off x="311700" y="1034475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the request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paper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sent by your session chair. 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3335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You must respond to the request by clicking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“Answer request”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accept the review. </a:t>
            </a:r>
            <a:endParaRPr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Account-4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rcRect r="953"/>
          <a:stretch>
            <a:fillRect/>
          </a:stretch>
        </p:blipFill>
        <p:spPr>
          <a:xfrm>
            <a:off x="1764525" y="2050473"/>
            <a:ext cx="5614950" cy="295558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>
            <a:spLocks noGrp="1"/>
          </p:cNvSpPr>
          <p:nvPr>
            <p:ph type="body" idx="1"/>
          </p:nvPr>
        </p:nvSpPr>
        <p:spPr>
          <a:xfrm>
            <a:off x="311699" y="1072275"/>
            <a:ext cx="8264265" cy="12783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Follow the instructions on the page to accept the review request.</a:t>
            </a:r>
            <a:endParaRPr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Account-5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1"/>
          <a:srcRect r="37669"/>
          <a:stretch>
            <a:fillRect/>
          </a:stretch>
        </p:blipFill>
        <p:spPr>
          <a:xfrm>
            <a:off x="259759" y="1648782"/>
            <a:ext cx="3354980" cy="3286897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15771" y="1648782"/>
            <a:ext cx="4616529" cy="329164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5" name="箭头: 右 14"/>
          <p:cNvSpPr/>
          <p:nvPr/>
        </p:nvSpPr>
        <p:spPr>
          <a:xfrm>
            <a:off x="3663323" y="2947988"/>
            <a:ext cx="503866" cy="442912"/>
          </a:xfrm>
          <a:prstGeom prst="rightArrow">
            <a:avLst/>
          </a:prstGeom>
          <a:solidFill>
            <a:schemeClr val="tx1">
              <a:lumMod val="75000"/>
              <a:lumOff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142;p26"/>
          <p:cNvSpPr txBox="1"/>
          <p:nvPr/>
        </p:nvSpPr>
        <p:spPr>
          <a:xfrm>
            <a:off x="311598" y="1010200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e) Download the assigned paper by clicking the download icon        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0" name="Google Shape;150;p27"/>
          <p:cNvSpPr txBox="1">
            <a:spLocks noGrp="1"/>
          </p:cNvSpPr>
          <p:nvPr>
            <p:ph type="body" idx="1"/>
          </p:nvPr>
        </p:nvSpPr>
        <p:spPr>
          <a:xfrm>
            <a:off x="1067200" y="1072275"/>
            <a:ext cx="77652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chemeClr val="dk1"/>
              </a:solidFill>
            </a:endParaRPr>
          </a:p>
        </p:txBody>
      </p:sp>
      <p:pic>
        <p:nvPicPr>
          <p:cNvPr id="152" name="Google Shape;152;p27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6552907" y="1059955"/>
            <a:ext cx="333675" cy="346837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sp>
        <p:nvSpPr>
          <p:cNvPr id="4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Account-6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2695" y="1502208"/>
            <a:ext cx="4918609" cy="35528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rcRect r="1340"/>
          <a:stretch>
            <a:fillRect/>
          </a:stretch>
        </p:blipFill>
        <p:spPr>
          <a:xfrm>
            <a:off x="129309" y="2064515"/>
            <a:ext cx="4761346" cy="226684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9292" y="1593272"/>
            <a:ext cx="3492141" cy="2825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14" name="Google Shape;142;p26"/>
          <p:cNvSpPr txBox="1"/>
          <p:nvPr/>
        </p:nvSpPr>
        <p:spPr>
          <a:xfrm>
            <a:off x="311598" y="1010200"/>
            <a:ext cx="8264265" cy="6392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f) Click </a:t>
            </a: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altLang="zh-C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the review form.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Account-7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42;p26"/>
          <p:cNvSpPr txBox="1"/>
          <p:nvPr/>
        </p:nvSpPr>
        <p:spPr>
          <a:xfrm>
            <a:off x="311599" y="1010199"/>
            <a:ext cx="4798702" cy="3867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g) Evaluate the paper and provide your comments.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evaluate the paper according to the review criteria shown in </a:t>
            </a:r>
            <a:r>
              <a:rPr lang="en-US" sz="16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such as relevance, originality, technical quality, clarity, significance, and overall recommendation.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Please provide constructive comments that can help the author(s) improve the paper.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>
              <a:spcAft>
                <a:spcPts val="1200"/>
              </a:spcAft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click </a:t>
            </a:r>
            <a:r>
              <a:rPr 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“Submit Review” </a:t>
            </a: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submit your review.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5" name="Google Shape;165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959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2483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1"/>
          <a:stretch>
            <a:fillRect/>
          </a:stretch>
        </p:blipFill>
        <p:spPr>
          <a:xfrm rot="10800000">
            <a:off x="400711" y="142225"/>
            <a:ext cx="56489" cy="10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9"/>
          <p:cNvPicPr preferRelativeResize="0"/>
          <p:nvPr/>
        </p:nvPicPr>
        <p:blipFill>
          <a:blip r:embed="rId2"/>
          <a:stretch>
            <a:fillRect/>
          </a:stretch>
        </p:blipFill>
        <p:spPr>
          <a:xfrm>
            <a:off x="5184191" y="958273"/>
            <a:ext cx="3573016" cy="3971373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Account-8</a:t>
            </a:r>
            <a:endParaRPr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121;p23"/>
          <p:cNvSpPr txBox="1"/>
          <p:nvPr/>
        </p:nvSpPr>
        <p:spPr>
          <a:xfrm>
            <a:off x="311700" y="294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 Method 1: Use Your Own </a:t>
            </a:r>
            <a:r>
              <a:rPr lang="en-US" b="1" dirty="0" err="1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Account-9</a:t>
            </a:r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Google Shape;142;p26"/>
          <p:cNvSpPr txBox="1"/>
          <p:nvPr/>
        </p:nvSpPr>
        <p:spPr>
          <a:xfrm>
            <a:off x="311700" y="917835"/>
            <a:ext cx="7987274" cy="13081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 panose="020B0604020202020204"/>
              <a:buChar char="●"/>
              <a:defRPr sz="18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●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○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 panose="020B0604020202020204"/>
              <a:buChar char="■"/>
              <a:defRPr sz="1400" b="0" i="0" u="none" strike="noStrike" cap="none">
                <a:solidFill>
                  <a:schemeClr val="dk2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indent="0">
              <a:spcAft>
                <a:spcPts val="1200"/>
              </a:spcAft>
              <a:buFont typeface="Arial" panose="020B0604020202020204"/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h) Your review has been successfully submitted.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6091" y="1388142"/>
            <a:ext cx="6811818" cy="3585588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>
            <a:spLocks noGrp="1"/>
          </p:cNvSpPr>
          <p:nvPr>
            <p:ph type="title"/>
          </p:nvPr>
        </p:nvSpPr>
        <p:spPr>
          <a:xfrm>
            <a:off x="311700" y="294625"/>
            <a:ext cx="877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ct val="42000"/>
              <a:buFont typeface="Arial" panose="020B0604020202020204"/>
              <a:buNone/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2.2 Method 2: Offline Review Form</a:t>
            </a:r>
            <a:endParaRPr sz="2400" dirty="0">
              <a:solidFill>
                <a:schemeClr val="dk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5" name="Google Shape;225;p37"/>
          <p:cNvSpPr txBox="1">
            <a:spLocks noGrp="1"/>
          </p:cNvSpPr>
          <p:nvPr>
            <p:ph type="body" idx="1"/>
          </p:nvPr>
        </p:nvSpPr>
        <p:spPr>
          <a:xfrm>
            <a:off x="311700" y="976525"/>
            <a:ext cx="8194991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you are unable to use </a:t>
            </a:r>
            <a:r>
              <a:rPr lang="en-US" sz="20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please contact your session chair or the UV2026 Organizing Committee at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We will send the assigned paper and an offline review form to you by email.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/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After completing the form, please return the completed review form to your session chair or to 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uv.conf.committee@universal-village.org</a:t>
            </a: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Review-1</a:t>
            </a:r>
            <a:endParaRPr lang="en-US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1" name="Google Shape;231;p38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a) Log in to </a:t>
            </a:r>
            <a:r>
              <a:rPr 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using the account you used to submit the review.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6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*If your review was submitted through the offline review form, please contact your session chair or the UV2026 Organizing Committee if you need to make changes.</a:t>
            </a:r>
            <a:endParaRPr lang="en-US" sz="1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2" name="Google Shape;232;p38"/>
          <p:cNvPicPr preferRelativeResize="0"/>
          <p:nvPr/>
        </p:nvPicPr>
        <p:blipFill>
          <a:blip r:embed="rId1"/>
          <a:stretch>
            <a:fillRect/>
          </a:stretch>
        </p:blipFill>
        <p:spPr>
          <a:xfrm>
            <a:off x="2321293" y="2258291"/>
            <a:ext cx="4333507" cy="2710134"/>
          </a:xfrm>
          <a:prstGeom prst="rect">
            <a:avLst/>
          </a:prstGeom>
          <a:noFill/>
          <a:ln w="28575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9"/>
          <p:cNvSpPr txBox="1">
            <a:spLocks noGrp="1"/>
          </p:cNvSpPr>
          <p:nvPr>
            <p:ph type="body" idx="1"/>
          </p:nvPr>
        </p:nvSpPr>
        <p:spPr>
          <a:xfrm>
            <a:off x="31170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b) If you submitted the review through your own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EasyChair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account, click </a:t>
            </a: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en-US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Subreviewer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to access your review page.</a:t>
            </a:r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5237" y="1892662"/>
            <a:ext cx="4031672" cy="2829924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6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Review-2</a:t>
            </a:r>
            <a:endParaRPr lang="en-US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898400"/>
            <a:ext cx="8520600" cy="393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c) Find the relevant paper and click the view icon          to open the submitted review.</a:t>
            </a:r>
            <a:endParaRPr lang="en-US" sz="20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0" name="Google Shape;130;p24"/>
          <p:cNvPicPr preferRelativeResize="0"/>
          <p:nvPr/>
        </p:nvPicPr>
        <p:blipFill>
          <a:blip r:embed="rId1"/>
          <a:srcRect b="20451"/>
          <a:stretch>
            <a:fillRect/>
          </a:stretch>
        </p:blipFill>
        <p:spPr>
          <a:xfrm>
            <a:off x="5974534" y="1032933"/>
            <a:ext cx="430886" cy="27249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020" y="1796327"/>
            <a:ext cx="7603960" cy="2331173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4" name="Google Shape;230;p38"/>
          <p:cNvSpPr txBox="1">
            <a:spLocks noGrp="1"/>
          </p:cNvSpPr>
          <p:nvPr>
            <p:ph type="title"/>
          </p:nvPr>
        </p:nvSpPr>
        <p:spPr>
          <a:xfrm>
            <a:off x="311700" y="3818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Review-3</a:t>
            </a:r>
            <a:endParaRPr lang="en-US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1"/>
          <p:cNvSpPr txBox="1">
            <a:spLocks noGrp="1"/>
          </p:cNvSpPr>
          <p:nvPr>
            <p:ph type="body" idx="1"/>
          </p:nvPr>
        </p:nvSpPr>
        <p:spPr>
          <a:xfrm>
            <a:off x="274755" y="1083202"/>
            <a:ext cx="4117136" cy="38998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d) Check or Edit a Submitted Review</a:t>
            </a:r>
            <a:endParaRPr lang="en-US" sz="2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 this page, you can view the summary of the submitted review. To check the full review details, click the review title, such as “Review 1”.</a:t>
            </a:r>
            <a:endParaRPr lang="en-US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spcAft>
                <a:spcPts val="1200"/>
              </a:spcAft>
            </a:pP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 revise the review, click the review/edit icon in the </a:t>
            </a:r>
            <a:r>
              <a:rPr lang="en-US" sz="17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“Revise” </a:t>
            </a:r>
            <a:r>
              <a:rPr lang="en-US" sz="17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column, make the necessary updates, and submit the review again to save the changes.</a:t>
            </a:r>
            <a:endParaRPr lang="en-GB" sz="17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Google Shape;230;p38"/>
          <p:cNvSpPr txBox="1"/>
          <p:nvPr/>
        </p:nvSpPr>
        <p:spPr>
          <a:xfrm>
            <a:off x="311700" y="3818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>
              <a:lnSpc>
                <a:spcPct val="115000"/>
              </a:lnSpc>
              <a:spcAft>
                <a:spcPts val="1200"/>
              </a:spcAft>
            </a:pPr>
            <a:r>
              <a:rPr lang="en-US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Check or Edit a Submitted Review-4</a:t>
            </a:r>
            <a:endParaRPr lang="en-US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66045" y="1021433"/>
            <a:ext cx="4567118" cy="3547442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-635" y="0"/>
            <a:ext cx="9144635" cy="5143500"/>
          </a:xfrm>
        </p:spPr>
        <p:txBody>
          <a:bodyPr anchor="ctr" anchorCtr="0"/>
          <a:lstStyle/>
          <a:p>
            <a:pPr marL="114300" indent="0" algn="ctr">
              <a:buNone/>
            </a:pPr>
            <a:r>
              <a:rPr lang="en-US" altLang="zh-C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any question-related inquiries:</a:t>
            </a:r>
            <a:endParaRPr lang="en-US" altLang="zh-C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r>
              <a:rPr lang="en-US" altLang="zh-CN" sz="3200" b="1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1"/>
              </a:rPr>
              <a:t>uv2026.conf@universal-village.org</a:t>
            </a: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14300" indent="0" algn="ctr">
              <a:buNone/>
            </a:pPr>
            <a:endParaRPr lang="en-US" altLang="zh-CN" sz="32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Google Shape;195;p33"/>
          <p:cNvSpPr txBox="1"/>
          <p:nvPr/>
        </p:nvSpPr>
        <p:spPr>
          <a:xfrm>
            <a:off x="311700" y="41899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None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-US" altLang="zh-CN" sz="2700" b="1" dirty="0">
                <a:solidFill>
                  <a:srgbClr val="98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Information Account Creation</a:t>
            </a:r>
            <a:endParaRPr lang="en-US" altLang="zh-CN" sz="2700" b="1" dirty="0">
              <a:solidFill>
                <a:srgbClr val="98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5426</Words>
  <Application>WPS Presentation</Application>
  <PresentationFormat>On-screen Show (16:9)</PresentationFormat>
  <Paragraphs>150</Paragraphs>
  <Slides>26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4" baseType="lpstr">
      <vt:lpstr>Arial</vt:lpstr>
      <vt:lpstr>SimSun</vt:lpstr>
      <vt:lpstr>Wingdings</vt:lpstr>
      <vt:lpstr>Arial</vt:lpstr>
      <vt:lpstr>Times New Roman</vt:lpstr>
      <vt:lpstr>Microsoft YaHei</vt:lpstr>
      <vt:lpstr>Arial Unicode MS</vt:lpstr>
      <vt:lpstr>Simple Light</vt:lpstr>
      <vt:lpstr>IEEE UV2026 Paper Review Instructions on EasyChair</vt:lpstr>
      <vt:lpstr>Outline</vt:lpstr>
      <vt:lpstr>1. Create an EasyChair Account-1</vt:lpstr>
      <vt:lpstr>PowerPoint 演示文稿</vt:lpstr>
      <vt:lpstr>Create an EasyChair Account-3</vt:lpstr>
      <vt:lpstr>Create an EasyChair Account-4</vt:lpstr>
      <vt:lpstr>Create an EasyChair Account-5</vt:lpstr>
      <vt:lpstr>Create an EasyChair Account-6</vt:lpstr>
      <vt:lpstr>Create an EasyChair Account-6</vt:lpstr>
      <vt:lpstr>Create an EasyChair Account - Account login (B) </vt:lpstr>
      <vt:lpstr>2. Review Papers as a Reviewer</vt:lpstr>
      <vt:lpstr>2.1 Method 1: Use Your Own EasyChair Account-1</vt:lpstr>
      <vt:lpstr>2.1 Method 1: Use Your Own EasyChair Account-2</vt:lpstr>
      <vt:lpstr>2.1 Method 1: Use Your Own EasyChair Account-3</vt:lpstr>
      <vt:lpstr>2.1 Method 1: Use Your Own EasyChair Account-4</vt:lpstr>
      <vt:lpstr>2.1 Method 1: Use Your Own EasyChair Account-5</vt:lpstr>
      <vt:lpstr>2.1 Method 1: Use Your Own EasyChair Account-6</vt:lpstr>
      <vt:lpstr>2.1 Method 1: Use Your Own EasyChair Account-7</vt:lpstr>
      <vt:lpstr>2.1 Method 1: Use Your Own EasyChair Account-8</vt:lpstr>
      <vt:lpstr>PowerPoint 演示文稿</vt:lpstr>
      <vt:lpstr>2.2 Method 2: Offline Review Form</vt:lpstr>
      <vt:lpstr>3. Check or Edit a Submitted Review-1</vt:lpstr>
      <vt:lpstr>3. Check or Edit a Submitted Review-2</vt:lpstr>
      <vt:lpstr>3. Check or Edit a Submitted Review-3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Instructions for UV2026 Paper Review on EasyChair</dc:title>
  <dc:creator>Jieren Kou</dc:creator>
  <cp:lastModifiedBy>uv.research</cp:lastModifiedBy>
  <cp:revision>17</cp:revision>
  <dcterms:created xsi:type="dcterms:W3CDTF">2026-04-28T23:16:00Z</dcterms:created>
  <dcterms:modified xsi:type="dcterms:W3CDTF">2026-06-06T03:09:41Z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ECA07A0C914D485F89B7D73B3BEC24E9_13</vt:lpwstr>
  </property>
  <property fmtid="{D5CDD505-2E9C-101B-9397-08002B2CF9AE}" pid="3" name="KSOProductBuildVer">
    <vt:lpwstr>1033-12.1.0.26880</vt:lpwstr>
  </property>
</Properties>
</file>